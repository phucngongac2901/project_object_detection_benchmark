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BENCHMARK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So </a:t>
            </a:r>
            <a:r>
              <a:rPr dirty="0" err="1">
                <a:latin typeface="Times New Roman" panose="02020603050405020304" pitchFamily="18" charset="0"/>
              </a:rPr>
              <a:t>sánh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hiệu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suất</a:t>
            </a:r>
            <a:r>
              <a:rPr dirty="0">
                <a:latin typeface="Times New Roman" panose="02020603050405020304" pitchFamily="18" charset="0"/>
              </a:rPr>
              <a:t>: OpenCV vs </a:t>
            </a:r>
            <a:r>
              <a:rPr dirty="0" err="1">
                <a:latin typeface="Times New Roman" panose="02020603050405020304" pitchFamily="18" charset="0"/>
              </a:rPr>
              <a:t>GStreamer</a:t>
            </a:r>
            <a:r>
              <a:rPr dirty="0">
                <a:latin typeface="Times New Roman" panose="02020603050405020304" pitchFamily="18" charset="0"/>
              </a:rPr>
              <a:t> Single-Thread vs </a:t>
            </a:r>
            <a:r>
              <a:rPr dirty="0" err="1">
                <a:latin typeface="Times New Roman" panose="02020603050405020304" pitchFamily="18" charset="0"/>
              </a:rPr>
              <a:t>GStreamer</a:t>
            </a:r>
            <a:r>
              <a:rPr dirty="0">
                <a:latin typeface="Times New Roman" panose="02020603050405020304" pitchFamily="18" charset="0"/>
              </a:rPr>
              <a:t> Multi-Thread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Object Detection Pipeline — YOLOv8 ONNX + CUDA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Hardware: RTX 5070 | Video: 25 FPS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Pipeline </a:t>
            </a:r>
            <a:r>
              <a:rPr dirty="0" err="1">
                <a:latin typeface="Times New Roman" panose="02020603050405020304" pitchFamily="18" charset="0"/>
              </a:rPr>
              <a:t>Xử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lý</a:t>
            </a:r>
            <a:r>
              <a:rPr dirty="0">
                <a:latin typeface="Times New Roman" panose="02020603050405020304" pitchFamily="18" charset="0"/>
              </a:rPr>
              <a:t>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3200" dirty="0" err="1">
                <a:latin typeface="Times New Roman" panose="02020603050405020304" pitchFamily="18" charset="0"/>
              </a:rPr>
              <a:t>Luồng</a:t>
            </a:r>
            <a:r>
              <a:rPr sz="3200" dirty="0">
                <a:latin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</a:rPr>
              <a:t>xử</a:t>
            </a:r>
            <a:r>
              <a:rPr sz="3200" dirty="0">
                <a:latin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</a:rPr>
              <a:t>lý</a:t>
            </a:r>
            <a:r>
              <a:rPr sz="3200" dirty="0">
                <a:latin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</a:rPr>
              <a:t>mỗi</a:t>
            </a:r>
            <a:r>
              <a:rPr sz="3200" dirty="0">
                <a:latin typeface="Times New Roman" panose="02020603050405020304" pitchFamily="18" charset="0"/>
              </a:rPr>
              <a:t> frame: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Video → [Decode] → Raw Frame → [Preprocess] → [Inference] → [Postprocess] → Display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1. Decode: </a:t>
            </a:r>
            <a:r>
              <a:rPr sz="1600" dirty="0" err="1">
                <a:latin typeface="Times New Roman" panose="02020603050405020304" pitchFamily="18" charset="0"/>
              </a:rPr>
              <a:t>Giải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mã</a:t>
            </a:r>
            <a:r>
              <a:rPr sz="1600" dirty="0">
                <a:latin typeface="Times New Roman" panose="02020603050405020304" pitchFamily="18" charset="0"/>
              </a:rPr>
              <a:t> video → </a:t>
            </a:r>
            <a:r>
              <a:rPr sz="1600" dirty="0" err="1">
                <a:latin typeface="Times New Roman" panose="02020603050405020304" pitchFamily="18" charset="0"/>
              </a:rPr>
              <a:t>ảnh</a:t>
            </a:r>
            <a:r>
              <a:rPr sz="1600" dirty="0">
                <a:latin typeface="Times New Roman" panose="02020603050405020304" pitchFamily="18" charset="0"/>
              </a:rPr>
              <a:t> BGR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• OpenCV: cv2.read() </a:t>
            </a:r>
            <a:r>
              <a:rPr sz="1600" dirty="0" err="1">
                <a:latin typeface="Times New Roman" panose="02020603050405020304" pitchFamily="18" charset="0"/>
              </a:rPr>
              <a:t>đồng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bộ</a:t>
            </a:r>
            <a:r>
              <a:rPr sz="1600" dirty="0">
                <a:latin typeface="Times New Roman" panose="02020603050405020304" pitchFamily="18" charset="0"/>
              </a:rPr>
              <a:t> — main thread </a:t>
            </a:r>
            <a:r>
              <a:rPr sz="1600" dirty="0" err="1">
                <a:latin typeface="Times New Roman" panose="02020603050405020304" pitchFamily="18" charset="0"/>
              </a:rPr>
              <a:t>chờ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• </a:t>
            </a:r>
            <a:r>
              <a:rPr sz="1600" dirty="0" err="1">
                <a:latin typeface="Times New Roman" panose="02020603050405020304" pitchFamily="18" charset="0"/>
              </a:rPr>
              <a:t>GStreamer</a:t>
            </a:r>
            <a:r>
              <a:rPr sz="1600" dirty="0">
                <a:latin typeface="Times New Roman" panose="02020603050405020304" pitchFamily="18" charset="0"/>
              </a:rPr>
              <a:t>: Pipeline async + callback — </a:t>
            </a:r>
            <a:r>
              <a:rPr sz="1600" dirty="0" err="1">
                <a:latin typeface="Times New Roman" panose="02020603050405020304" pitchFamily="18" charset="0"/>
              </a:rPr>
              <a:t>không</a:t>
            </a:r>
            <a:r>
              <a:rPr sz="1600" dirty="0">
                <a:latin typeface="Times New Roman" panose="02020603050405020304" pitchFamily="18" charset="0"/>
              </a:rPr>
              <a:t> block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2. Preprocess: Resize 640×640 → Normalize [0,1] → CHW → Batch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3. Inference: ONNX Runtime + CUDA (GPU)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4. Postprocess: Parse output → NMS → </a:t>
            </a:r>
            <a:r>
              <a:rPr sz="1600" dirty="0" err="1">
                <a:latin typeface="Times New Roman" panose="02020603050405020304" pitchFamily="18" charset="0"/>
              </a:rPr>
              <a:t>Vẽ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BBox</a:t>
            </a:r>
            <a:endParaRPr sz="1600" dirty="0"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</a:rPr>
              <a:t>3 Phương </a:t>
            </a:r>
            <a:r>
              <a:rPr sz="2800" dirty="0" err="1">
                <a:latin typeface="Times New Roman" panose="02020603050405020304" pitchFamily="18" charset="0"/>
              </a:rPr>
              <a:t>pháp</a:t>
            </a:r>
            <a:r>
              <a:rPr sz="2800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800" b="1">
                <a:solidFill>
                  <a:srgbClr val="45B7D1"/>
                </a:solidFill>
              </a:defRPr>
            </a:pPr>
            <a:r>
              <a:rPr sz="2400" dirty="0">
                <a:latin typeface="Times New Roman" panose="02020603050405020304" pitchFamily="18" charset="0"/>
              </a:rPr>
              <a:t>① OpenCV (Pure)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Decode + AI + Display </a:t>
            </a:r>
            <a:r>
              <a:rPr sz="1600" dirty="0" err="1">
                <a:latin typeface="Times New Roman" panose="02020603050405020304" pitchFamily="18" charset="0"/>
              </a:rPr>
              <a:t>trên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cùng</a:t>
            </a:r>
            <a:r>
              <a:rPr sz="1600" dirty="0">
                <a:latin typeface="Times New Roman" panose="02020603050405020304" pitchFamily="18" charset="0"/>
              </a:rPr>
              <a:t> 1 thread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→ </a:t>
            </a:r>
            <a:r>
              <a:rPr sz="1600" dirty="0" err="1">
                <a:latin typeface="Times New Roman" panose="02020603050405020304" pitchFamily="18" charset="0"/>
              </a:rPr>
              <a:t>Tuần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tự</a:t>
            </a:r>
            <a:r>
              <a:rPr sz="1600" dirty="0">
                <a:latin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</a:rPr>
              <a:t>không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mất</a:t>
            </a:r>
            <a:r>
              <a:rPr sz="1600" dirty="0">
                <a:latin typeface="Times New Roman" panose="02020603050405020304" pitchFamily="18" charset="0"/>
              </a:rPr>
              <a:t> frame, </a:t>
            </a:r>
            <a:r>
              <a:rPr sz="1600" dirty="0" err="1">
                <a:latin typeface="Times New Roman" panose="02020603050405020304" pitchFamily="18" charset="0"/>
              </a:rPr>
              <a:t>nhưng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chậm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800" b="1">
                <a:solidFill>
                  <a:srgbClr val="FF6B6B"/>
                </a:solidFill>
              </a:defRPr>
            </a:pPr>
            <a:r>
              <a:rPr sz="2400" dirty="0">
                <a:latin typeface="Times New Roman" panose="02020603050405020304" pitchFamily="18" charset="0"/>
              </a:rPr>
              <a:t>② </a:t>
            </a:r>
            <a:r>
              <a:rPr sz="2400" dirty="0" err="1">
                <a:latin typeface="Times New Roman" panose="02020603050405020304" pitchFamily="18" charset="0"/>
              </a:rPr>
              <a:t>GStreamer</a:t>
            </a:r>
            <a:r>
              <a:rPr sz="2400" dirty="0">
                <a:latin typeface="Times New Roman" panose="02020603050405020304" pitchFamily="18" charset="0"/>
              </a:rPr>
              <a:t> Single-Thread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Decode async (callback) + AI </a:t>
            </a:r>
            <a:r>
              <a:rPr sz="1600" dirty="0" err="1">
                <a:latin typeface="Times New Roman" panose="02020603050405020304" pitchFamily="18" charset="0"/>
              </a:rPr>
              <a:t>trên</a:t>
            </a:r>
            <a:r>
              <a:rPr sz="1600" dirty="0">
                <a:latin typeface="Times New Roman" panose="02020603050405020304" pitchFamily="18" charset="0"/>
              </a:rPr>
              <a:t> main thread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→ Decode </a:t>
            </a:r>
            <a:r>
              <a:rPr sz="1600" dirty="0" err="1">
                <a:latin typeface="Times New Roman" panose="02020603050405020304" pitchFamily="18" charset="0"/>
              </a:rPr>
              <a:t>nhanh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hơn</a:t>
            </a:r>
            <a:r>
              <a:rPr sz="1600" dirty="0">
                <a:latin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</a:rPr>
              <a:t>nhưng</a:t>
            </a:r>
            <a:r>
              <a:rPr sz="1600" dirty="0">
                <a:latin typeface="Times New Roman" panose="02020603050405020304" pitchFamily="18" charset="0"/>
              </a:rPr>
              <a:t> AI </a:t>
            </a:r>
            <a:r>
              <a:rPr sz="1600" dirty="0" err="1">
                <a:latin typeface="Times New Roman" panose="02020603050405020304" pitchFamily="18" charset="0"/>
              </a:rPr>
              <a:t>vẫn</a:t>
            </a:r>
            <a:r>
              <a:rPr sz="1600" dirty="0">
                <a:latin typeface="Times New Roman" panose="02020603050405020304" pitchFamily="18" charset="0"/>
              </a:rPr>
              <a:t> block display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800" b="1">
                <a:solidFill>
                  <a:srgbClr val="4ECDC4"/>
                </a:solidFill>
              </a:defRPr>
            </a:pPr>
            <a:r>
              <a:rPr sz="2400" dirty="0">
                <a:latin typeface="Times New Roman" panose="02020603050405020304" pitchFamily="18" charset="0"/>
              </a:rPr>
              <a:t>③ </a:t>
            </a:r>
            <a:r>
              <a:rPr sz="2400" dirty="0" err="1">
                <a:latin typeface="Times New Roman" panose="02020603050405020304" pitchFamily="18" charset="0"/>
              </a:rPr>
              <a:t>GStreamer</a:t>
            </a:r>
            <a:r>
              <a:rPr sz="2400" dirty="0">
                <a:latin typeface="Times New Roman" panose="02020603050405020304" pitchFamily="18" charset="0"/>
              </a:rPr>
              <a:t> Multi-Thread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Decode async + AI </a:t>
            </a:r>
            <a:r>
              <a:rPr sz="1600" dirty="0" err="1">
                <a:latin typeface="Times New Roman" panose="02020603050405020304" pitchFamily="18" charset="0"/>
              </a:rPr>
              <a:t>trên</a:t>
            </a:r>
            <a:r>
              <a:rPr sz="1600" dirty="0">
                <a:latin typeface="Times New Roman" panose="02020603050405020304" pitchFamily="18" charset="0"/>
              </a:rPr>
              <a:t> worker thread </a:t>
            </a:r>
            <a:r>
              <a:rPr sz="1600" dirty="0" err="1">
                <a:latin typeface="Times New Roman" panose="02020603050405020304" pitchFamily="18" charset="0"/>
              </a:rPr>
              <a:t>riêng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→ Decode </a:t>
            </a:r>
            <a:r>
              <a:rPr sz="1600" dirty="0" err="1">
                <a:latin typeface="Times New Roman" panose="02020603050405020304" pitchFamily="18" charset="0"/>
              </a:rPr>
              <a:t>và</a:t>
            </a:r>
            <a:r>
              <a:rPr sz="1600" dirty="0">
                <a:latin typeface="Times New Roman" panose="02020603050405020304" pitchFamily="18" charset="0"/>
              </a:rPr>
              <a:t> AI </a:t>
            </a:r>
            <a:r>
              <a:rPr sz="1600" dirty="0" err="1">
                <a:latin typeface="Times New Roman" panose="02020603050405020304" pitchFamily="18" charset="0"/>
              </a:rPr>
              <a:t>chạy</a:t>
            </a:r>
            <a:r>
              <a:rPr sz="1600" dirty="0">
                <a:latin typeface="Times New Roman" panose="02020603050405020304" pitchFamily="18" charset="0"/>
              </a:rPr>
              <a:t> song </a:t>
            </a:r>
            <a:r>
              <a:rPr sz="1600" dirty="0" err="1">
                <a:latin typeface="Times New Roman" panose="02020603050405020304" pitchFamily="18" charset="0"/>
              </a:rPr>
              <a:t>song</a:t>
            </a:r>
            <a:r>
              <a:rPr sz="1600" dirty="0">
                <a:latin typeface="Times New Roman" panose="02020603050405020304" pitchFamily="18" charset="0"/>
              </a:rPr>
              <a:t>, display </a:t>
            </a:r>
            <a:r>
              <a:rPr sz="1600" dirty="0" err="1">
                <a:latin typeface="Times New Roman" panose="02020603050405020304" pitchFamily="18" charset="0"/>
              </a:rPr>
              <a:t>mượt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nhất</a:t>
            </a:r>
            <a:endParaRPr sz="1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Phân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bố</a:t>
            </a:r>
            <a:r>
              <a:rPr dirty="0">
                <a:latin typeface="Times New Roman" panose="02020603050405020304" pitchFamily="18" charset="0"/>
              </a:rPr>
              <a:t> Inference Time (KDE / Gaussian)</a:t>
            </a:r>
          </a:p>
        </p:txBody>
      </p:sp>
      <p:pic>
        <p:nvPicPr>
          <p:cNvPr id="3" name="Picture 2" descr="kde_all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315200" cy="47903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456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2400" dirty="0" err="1">
                <a:latin typeface="Times New Roman" panose="02020603050405020304" pitchFamily="18" charset="0"/>
              </a:rPr>
              <a:t>Phân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tích</a:t>
            </a:r>
            <a:r>
              <a:rPr sz="2400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2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KDE (Kernel Density Estimation) </a:t>
            </a:r>
            <a:r>
              <a:rPr sz="1600" dirty="0" err="1">
                <a:latin typeface="Times New Roman" panose="02020603050405020304" pitchFamily="18" charset="0"/>
              </a:rPr>
              <a:t>ước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lượng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hàm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mật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độ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xác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suất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1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Đỉnh </a:t>
            </a:r>
            <a:r>
              <a:rPr sz="1600" dirty="0" err="1">
                <a:latin typeface="Times New Roman" panose="02020603050405020304" pitchFamily="18" charset="0"/>
              </a:rPr>
              <a:t>cao</a:t>
            </a:r>
            <a:r>
              <a:rPr sz="1600" dirty="0">
                <a:latin typeface="Times New Roman" panose="02020603050405020304" pitchFamily="18" charset="0"/>
              </a:rPr>
              <a:t> + </a:t>
            </a:r>
            <a:r>
              <a:rPr sz="1600" dirty="0" err="1">
                <a:latin typeface="Times New Roman" panose="02020603050405020304" pitchFamily="18" charset="0"/>
              </a:rPr>
              <a:t>hẹp</a:t>
            </a:r>
            <a:r>
              <a:rPr sz="1600" dirty="0">
                <a:latin typeface="Times New Roman" panose="02020603050405020304" pitchFamily="18" charset="0"/>
              </a:rPr>
              <a:t> = </a:t>
            </a:r>
            <a:r>
              <a:rPr sz="1600" dirty="0" err="1">
                <a:latin typeface="Times New Roman" panose="02020603050405020304" pitchFamily="18" charset="0"/>
              </a:rPr>
              <a:t>ổn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định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2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</a:t>
            </a:r>
            <a:r>
              <a:rPr sz="1600" dirty="0" err="1">
                <a:latin typeface="Times New Roman" panose="02020603050405020304" pitchFamily="18" charset="0"/>
              </a:rPr>
              <a:t>GStreamer</a:t>
            </a:r>
            <a:r>
              <a:rPr sz="1600" dirty="0">
                <a:latin typeface="Times New Roman" panose="02020603050405020304" pitchFamily="18" charset="0"/>
              </a:rPr>
              <a:t> Multi </a:t>
            </a:r>
            <a:r>
              <a:rPr sz="1600" dirty="0" err="1">
                <a:latin typeface="Times New Roman" panose="02020603050405020304" pitchFamily="18" charset="0"/>
              </a:rPr>
              <a:t>có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đỉnh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cao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nhất</a:t>
            </a:r>
            <a:r>
              <a:rPr sz="1600" dirty="0">
                <a:latin typeface="Times New Roman" panose="02020603050405020304" pitchFamily="18" charset="0"/>
              </a:rPr>
              <a:t> → inference </a:t>
            </a:r>
            <a:r>
              <a:rPr sz="1600" dirty="0" err="1">
                <a:latin typeface="Times New Roman" panose="02020603050405020304" pitchFamily="18" charset="0"/>
              </a:rPr>
              <a:t>ổn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định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nhất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1">
                <a:solidFill>
                  <a:srgbClr val="FF6B6B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Đuôi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dài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bên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phải</a:t>
            </a:r>
            <a:r>
              <a:rPr sz="1600" dirty="0">
                <a:latin typeface="Times New Roman" panose="02020603050405020304" pitchFamily="18" charset="0"/>
              </a:rPr>
              <a:t> = spike</a:t>
            </a:r>
          </a:p>
          <a:p>
            <a:pPr>
              <a:spcBef>
                <a:spcPts val="400"/>
              </a:spcBef>
              <a:defRPr sz="12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OpenCV </a:t>
            </a:r>
            <a:r>
              <a:rPr sz="1600" dirty="0" err="1">
                <a:latin typeface="Times New Roman" panose="02020603050405020304" pitchFamily="18" charset="0"/>
              </a:rPr>
              <a:t>có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đuôi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dài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nhất</a:t>
            </a:r>
            <a:r>
              <a:rPr sz="1600" dirty="0">
                <a:latin typeface="Times New Roman" panose="02020603050405020304" pitchFamily="18" charset="0"/>
              </a:rPr>
              <a:t> → </a:t>
            </a:r>
            <a:r>
              <a:rPr sz="1600" dirty="0" err="1">
                <a:latin typeface="Times New Roman" panose="02020603050405020304" pitchFamily="18" charset="0"/>
              </a:rPr>
              <a:t>nhiều</a:t>
            </a:r>
            <a:r>
              <a:rPr sz="1600" dirty="0">
                <a:latin typeface="Times New Roman" panose="02020603050405020304" pitchFamily="18" charset="0"/>
              </a:rPr>
              <a:t> spike inference </a:t>
            </a:r>
            <a:r>
              <a:rPr sz="1600" dirty="0" err="1">
                <a:latin typeface="Times New Roman" panose="02020603050405020304" pitchFamily="18" charset="0"/>
              </a:rPr>
              <a:t>bất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thường</a:t>
            </a:r>
            <a:r>
              <a:rPr sz="1600" dirty="0">
                <a:latin typeface="Times New Roman" panose="02020603050405020304" pitchFamily="18" charset="0"/>
              </a:rPr>
              <a:t> do GPU </a:t>
            </a:r>
            <a:r>
              <a:rPr sz="1600" dirty="0" err="1">
                <a:latin typeface="Times New Roman" panose="02020603050405020304" pitchFamily="18" charset="0"/>
              </a:rPr>
              <a:t>bị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tranh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chấp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với</a:t>
            </a:r>
            <a:r>
              <a:rPr sz="1600" dirty="0">
                <a:latin typeface="Times New Roman" panose="02020603050405020304" pitchFamily="18" charset="0"/>
              </a:rPr>
              <a:t> decode sync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GStreamer</a:t>
            </a:r>
            <a:r>
              <a:rPr sz="1600" dirty="0">
                <a:latin typeface="Times New Roman" panose="02020603050405020304" pitchFamily="18" charset="0"/>
              </a:rPr>
              <a:t> Multi </a:t>
            </a:r>
            <a:r>
              <a:rPr sz="1600" dirty="0" err="1">
                <a:latin typeface="Times New Roman" panose="02020603050405020304" pitchFamily="18" charset="0"/>
              </a:rPr>
              <a:t>tập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trung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quanh</a:t>
            </a:r>
            <a:r>
              <a:rPr sz="1600" dirty="0">
                <a:latin typeface="Times New Roman" panose="02020603050405020304" pitchFamily="18" charset="0"/>
              </a:rPr>
              <a:t> 11ms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OpenCV </a:t>
            </a:r>
            <a:r>
              <a:rPr sz="1600" dirty="0" err="1">
                <a:latin typeface="Times New Roman" panose="02020603050405020304" pitchFamily="18" charset="0"/>
              </a:rPr>
              <a:t>phân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bố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rộng</a:t>
            </a:r>
            <a:r>
              <a:rPr sz="1600" dirty="0">
                <a:latin typeface="Times New Roman" panose="02020603050405020304" pitchFamily="18" charset="0"/>
              </a:rPr>
              <a:t> 11-35ms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CDF — </a:t>
            </a:r>
            <a:r>
              <a:rPr dirty="0" err="1">
                <a:latin typeface="Times New Roman" panose="02020603050405020304" pitchFamily="18" charset="0"/>
              </a:rPr>
              <a:t>Đồ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thị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Tích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lũy</a:t>
            </a:r>
            <a:r>
              <a:rPr dirty="0">
                <a:latin typeface="Times New Roman" panose="02020603050405020304" pitchFamily="18" charset="0"/>
              </a:rPr>
              <a:t> (Cumulative)</a:t>
            </a:r>
          </a:p>
        </p:txBody>
      </p:sp>
      <p:pic>
        <p:nvPicPr>
          <p:cNvPr id="3" name="Picture 2" descr="cdf_all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315200" cy="4776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436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2400" dirty="0" err="1">
                <a:latin typeface="Times New Roman" panose="02020603050405020304" pitchFamily="18" charset="0"/>
              </a:rPr>
              <a:t>Cách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đọc</a:t>
            </a:r>
            <a:r>
              <a:rPr sz="2400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X = inference time (</a:t>
            </a:r>
            <a:r>
              <a:rPr sz="1600" dirty="0" err="1">
                <a:latin typeface="Times New Roman" panose="02020603050405020304" pitchFamily="18" charset="0"/>
              </a:rPr>
              <a:t>ms</a:t>
            </a:r>
            <a:r>
              <a:rPr sz="1600" dirty="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Y = % frame </a:t>
            </a:r>
            <a:r>
              <a:rPr sz="1600" dirty="0" err="1">
                <a:latin typeface="Times New Roman" panose="02020603050405020304" pitchFamily="18" charset="0"/>
              </a:rPr>
              <a:t>có</a:t>
            </a:r>
            <a:r>
              <a:rPr sz="1600" dirty="0">
                <a:latin typeface="Times New Roman" panose="02020603050405020304" pitchFamily="18" charset="0"/>
              </a:rPr>
              <a:t> inference ≤ X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1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Đường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lệch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trái</a:t>
            </a:r>
            <a:r>
              <a:rPr sz="1600" dirty="0">
                <a:latin typeface="Times New Roman" panose="02020603050405020304" pitchFamily="18" charset="0"/>
              </a:rPr>
              <a:t> = </a:t>
            </a:r>
            <a:r>
              <a:rPr sz="1600" dirty="0" err="1">
                <a:latin typeface="Times New Roman" panose="02020603050405020304" pitchFamily="18" charset="0"/>
              </a:rPr>
              <a:t>nhanh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hơn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Tại</a:t>
            </a:r>
            <a:r>
              <a:rPr dirty="0">
                <a:latin typeface="Times New Roman" panose="02020603050405020304" pitchFamily="18" charset="0"/>
              </a:rPr>
              <a:t> P95 (95% frame):</a:t>
            </a:r>
          </a:p>
          <a:p>
            <a:pPr>
              <a:spcBef>
                <a:spcPts val="400"/>
              </a:spcBef>
              <a:defRPr sz="1300" b="0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</a:t>
            </a:r>
            <a:r>
              <a:rPr sz="1600" dirty="0" err="1">
                <a:latin typeface="Times New Roman" panose="02020603050405020304" pitchFamily="18" charset="0"/>
              </a:rPr>
              <a:t>GStreamer</a:t>
            </a:r>
            <a:r>
              <a:rPr sz="1600" dirty="0">
                <a:latin typeface="Times New Roman" panose="02020603050405020304" pitchFamily="18" charset="0"/>
              </a:rPr>
              <a:t> Multi: ~14ms</a:t>
            </a:r>
          </a:p>
          <a:p>
            <a:pPr>
              <a:spcBef>
                <a:spcPts val="400"/>
              </a:spcBef>
              <a:defRPr sz="1300" b="0">
                <a:solidFill>
                  <a:srgbClr val="FF6B6B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</a:t>
            </a:r>
            <a:r>
              <a:rPr sz="1600" dirty="0" err="1">
                <a:latin typeface="Times New Roman" panose="02020603050405020304" pitchFamily="18" charset="0"/>
              </a:rPr>
              <a:t>GStreamer</a:t>
            </a:r>
            <a:r>
              <a:rPr sz="1600" dirty="0">
                <a:latin typeface="Times New Roman" panose="02020603050405020304" pitchFamily="18" charset="0"/>
              </a:rPr>
              <a:t> Single: ~25ms</a:t>
            </a:r>
          </a:p>
          <a:p>
            <a:pPr>
              <a:spcBef>
                <a:spcPts val="400"/>
              </a:spcBef>
              <a:defRPr sz="1300" b="0">
                <a:solidFill>
                  <a:srgbClr val="45B7D1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OpenCV: ~30ms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→ </a:t>
            </a:r>
            <a:r>
              <a:rPr dirty="0" err="1">
                <a:latin typeface="Times New Roman" panose="02020603050405020304" pitchFamily="18" charset="0"/>
              </a:rPr>
              <a:t>GStreamer</a:t>
            </a:r>
            <a:r>
              <a:rPr dirty="0">
                <a:latin typeface="Times New Roman" panose="02020603050405020304" pitchFamily="18" charset="0"/>
              </a:rPr>
              <a:t> Multi </a:t>
            </a:r>
            <a:r>
              <a:rPr dirty="0" err="1">
                <a:latin typeface="Times New Roman" panose="02020603050405020304" pitchFamily="18" charset="0"/>
              </a:rPr>
              <a:t>ổn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định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nhất</a:t>
            </a:r>
            <a:r>
              <a:rPr dirty="0">
                <a:latin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</a:rPr>
              <a:t>ít</a:t>
            </a:r>
            <a:r>
              <a:rPr dirty="0">
                <a:latin typeface="Times New Roman" panose="02020603050405020304" pitchFamily="18" charset="0"/>
              </a:rPr>
              <a:t> spike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→ OpenCV </a:t>
            </a:r>
            <a:r>
              <a:rPr sz="1600" dirty="0" err="1">
                <a:latin typeface="Times New Roman" panose="02020603050405020304" pitchFamily="18" charset="0"/>
              </a:rPr>
              <a:t>có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đuôi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dài</a:t>
            </a:r>
            <a:r>
              <a:rPr sz="1600" dirty="0">
                <a:latin typeface="Times New Roman" panose="02020603050405020304" pitchFamily="18" charset="0"/>
              </a:rPr>
              <a:t> — 5% frame </a:t>
            </a:r>
            <a:r>
              <a:rPr sz="1600" dirty="0" err="1">
                <a:latin typeface="Times New Roman" panose="02020603050405020304" pitchFamily="18" charset="0"/>
              </a:rPr>
              <a:t>chậm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gấp</a:t>
            </a:r>
            <a:r>
              <a:rPr sz="1600" dirty="0">
                <a:latin typeface="Times New Roman" panose="02020603050405020304" pitchFamily="18" charset="0"/>
              </a:rPr>
              <a:t> 2-3x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FPS </a:t>
            </a:r>
            <a:r>
              <a:rPr dirty="0" err="1">
                <a:latin typeface="Times New Roman" panose="02020603050405020304" pitchFamily="18" charset="0"/>
              </a:rPr>
              <a:t>theo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Thời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gian</a:t>
            </a:r>
            <a:endParaRPr dirty="0">
              <a:latin typeface="Times New Roman" panose="02020603050405020304" pitchFamily="18" charset="0"/>
            </a:endParaRPr>
          </a:p>
        </p:txBody>
      </p:sp>
      <p:pic>
        <p:nvPicPr>
          <p:cNvPr id="3" name="Picture 2" descr="fps_all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8229600" cy="5829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914400"/>
            <a:ext cx="3200400" cy="401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3600" dirty="0" err="1">
                <a:latin typeface="Times New Roman" panose="02020603050405020304" pitchFamily="18" charset="0"/>
              </a:rPr>
              <a:t>Nhận</a:t>
            </a:r>
            <a:r>
              <a:rPr sz="3600" dirty="0">
                <a:latin typeface="Times New Roman" panose="02020603050405020304" pitchFamily="18" charset="0"/>
              </a:rPr>
              <a:t> </a:t>
            </a:r>
            <a:r>
              <a:rPr sz="3600" dirty="0" err="1">
                <a:latin typeface="Times New Roman" panose="02020603050405020304" pitchFamily="18" charset="0"/>
              </a:rPr>
              <a:t>xét</a:t>
            </a:r>
            <a:r>
              <a:rPr sz="3600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FFD93D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Đường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vàng</a:t>
            </a:r>
            <a:r>
              <a:rPr sz="1600" dirty="0">
                <a:latin typeface="Times New Roman" panose="02020603050405020304" pitchFamily="18" charset="0"/>
              </a:rPr>
              <a:t> = Video source 25 FPS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GStreamer</a:t>
            </a:r>
            <a:r>
              <a:rPr sz="1600" dirty="0">
                <a:latin typeface="Times New Roman" panose="02020603050405020304" pitchFamily="18" charset="0"/>
              </a:rPr>
              <a:t> Multi </a:t>
            </a:r>
            <a:r>
              <a:rPr sz="1600" dirty="0" err="1">
                <a:latin typeface="Times New Roman" panose="02020603050405020304" pitchFamily="18" charset="0"/>
              </a:rPr>
              <a:t>duy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trì</a:t>
            </a:r>
            <a:r>
              <a:rPr sz="1600" dirty="0">
                <a:latin typeface="Times New Roman" panose="02020603050405020304" pitchFamily="18" charset="0"/>
              </a:rPr>
              <a:t> FPS </a:t>
            </a:r>
            <a:r>
              <a:rPr sz="1600" dirty="0" err="1">
                <a:latin typeface="Times New Roman" panose="02020603050405020304" pitchFamily="18" charset="0"/>
              </a:rPr>
              <a:t>cao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và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ổn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định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nhất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45B7D1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OpenCV </a:t>
            </a:r>
            <a:r>
              <a:rPr sz="1600" dirty="0" err="1">
                <a:latin typeface="Times New Roman" panose="02020603050405020304" pitchFamily="18" charset="0"/>
              </a:rPr>
              <a:t>biến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động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nhiều</a:t>
            </a:r>
            <a:r>
              <a:rPr sz="1600" dirty="0">
                <a:latin typeface="Times New Roman" panose="02020603050405020304" pitchFamily="18" charset="0"/>
              </a:rPr>
              <a:t> do GPU </a:t>
            </a:r>
            <a:r>
              <a:rPr sz="1600" dirty="0" err="1">
                <a:latin typeface="Times New Roman" panose="02020603050405020304" pitchFamily="18" charset="0"/>
              </a:rPr>
              <a:t>bị</a:t>
            </a:r>
            <a:r>
              <a:rPr sz="1600" dirty="0">
                <a:latin typeface="Times New Roman" panose="02020603050405020304" pitchFamily="18" charset="0"/>
              </a:rPr>
              <a:t> block </a:t>
            </a:r>
            <a:r>
              <a:rPr sz="1600" dirty="0" err="1">
                <a:latin typeface="Times New Roman" panose="02020603050405020304" pitchFamily="18" charset="0"/>
              </a:rPr>
              <a:t>bởi</a:t>
            </a:r>
            <a:r>
              <a:rPr sz="1600" dirty="0">
                <a:latin typeface="Times New Roman" panose="02020603050405020304" pitchFamily="18" charset="0"/>
              </a:rPr>
              <a:t> decode sync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Không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có</a:t>
            </a:r>
            <a:r>
              <a:rPr sz="1600" dirty="0">
                <a:latin typeface="Times New Roman" panose="02020603050405020304" pitchFamily="18" charset="0"/>
              </a:rPr>
              <a:t> GPU throttling (FPS </a:t>
            </a:r>
            <a:r>
              <a:rPr sz="1600" dirty="0" err="1">
                <a:latin typeface="Times New Roman" panose="02020603050405020304" pitchFamily="18" charset="0"/>
              </a:rPr>
              <a:t>không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giảm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dần</a:t>
            </a:r>
            <a:r>
              <a:rPr sz="1600" dirty="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Timing Breakdown &amp; Percentile</a:t>
            </a:r>
          </a:p>
        </p:txBody>
      </p:sp>
      <p:pic>
        <p:nvPicPr>
          <p:cNvPr id="3" name="Picture 2" descr="timing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486400" cy="3821373"/>
          </a:xfrm>
          <a:prstGeom prst="rect">
            <a:avLst/>
          </a:prstGeom>
        </p:spPr>
      </p:pic>
      <p:pic>
        <p:nvPicPr>
          <p:cNvPr id="4" name="Picture 3" descr="percentile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5943600" cy="38213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Inference </a:t>
            </a:r>
            <a:r>
              <a:rPr sz="1600" dirty="0" err="1">
                <a:latin typeface="Times New Roman" panose="02020603050405020304" pitchFamily="18" charset="0"/>
              </a:rPr>
              <a:t>chiếm</a:t>
            </a:r>
            <a:r>
              <a:rPr sz="1600" dirty="0">
                <a:latin typeface="Times New Roman" panose="02020603050405020304" pitchFamily="18" charset="0"/>
              </a:rPr>
              <a:t> ~40% </a:t>
            </a:r>
            <a:r>
              <a:rPr sz="1600" dirty="0" err="1">
                <a:latin typeface="Times New Roman" panose="02020603050405020304" pitchFamily="18" charset="0"/>
              </a:rPr>
              <a:t>thời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gian</a:t>
            </a:r>
            <a:r>
              <a:rPr sz="1600" dirty="0">
                <a:latin typeface="Times New Roman" panose="02020603050405020304" pitchFamily="18" charset="0"/>
              </a:rPr>
              <a:t> pipeline | Postprocess ~45% (NMS + </a:t>
            </a:r>
            <a:r>
              <a:rPr sz="1600" dirty="0" err="1">
                <a:latin typeface="Times New Roman" panose="02020603050405020304" pitchFamily="18" charset="0"/>
              </a:rPr>
              <a:t>vẽ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bbox</a:t>
            </a:r>
            <a:r>
              <a:rPr sz="1600" dirty="0">
                <a:latin typeface="Times New Roman" panose="02020603050405020304" pitchFamily="18" charset="0"/>
              </a:rPr>
              <a:t>) | Decode ~12% (</a:t>
            </a:r>
            <a:r>
              <a:rPr sz="1600" dirty="0" err="1">
                <a:latin typeface="Times New Roman" panose="02020603050405020304" pitchFamily="18" charset="0"/>
              </a:rPr>
              <a:t>chỉ</a:t>
            </a:r>
            <a:r>
              <a:rPr sz="1600" dirty="0">
                <a:latin typeface="Times New Roman" panose="02020603050405020304" pitchFamily="18" charset="0"/>
              </a:rPr>
              <a:t> OpenCV)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P99 </a:t>
            </a:r>
            <a:r>
              <a:rPr sz="1600" dirty="0" err="1">
                <a:latin typeface="Times New Roman" panose="02020603050405020304" pitchFamily="18" charset="0"/>
              </a:rPr>
              <a:t>cho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thấy</a:t>
            </a:r>
            <a:r>
              <a:rPr sz="1600" dirty="0">
                <a:latin typeface="Times New Roman" panose="02020603050405020304" pitchFamily="18" charset="0"/>
              </a:rPr>
              <a:t> worst-case: OpenCV spike </a:t>
            </a:r>
            <a:r>
              <a:rPr sz="1600" dirty="0" err="1">
                <a:latin typeface="Times New Roman" panose="02020603050405020304" pitchFamily="18" charset="0"/>
              </a:rPr>
              <a:t>lên</a:t>
            </a:r>
            <a:r>
              <a:rPr sz="1600" dirty="0">
                <a:latin typeface="Times New Roman" panose="02020603050405020304" pitchFamily="18" charset="0"/>
              </a:rPr>
              <a:t> 30+ms </a:t>
            </a:r>
            <a:r>
              <a:rPr sz="1600" dirty="0" err="1">
                <a:latin typeface="Times New Roman" panose="02020603050405020304" pitchFamily="18" charset="0"/>
              </a:rPr>
              <a:t>trong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khi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GStreamer</a:t>
            </a:r>
            <a:r>
              <a:rPr sz="1600" dirty="0">
                <a:latin typeface="Times New Roman" panose="02020603050405020304" pitchFamily="18" charset="0"/>
              </a:rPr>
              <a:t> Multi </a:t>
            </a:r>
            <a:r>
              <a:rPr sz="1600" dirty="0" err="1">
                <a:latin typeface="Times New Roman" panose="02020603050405020304" pitchFamily="18" charset="0"/>
              </a:rPr>
              <a:t>giữ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dưới</a:t>
            </a:r>
            <a:r>
              <a:rPr sz="1600" dirty="0">
                <a:latin typeface="Times New Roman" panose="02020603050405020304" pitchFamily="18" charset="0"/>
              </a:rPr>
              <a:t> 15ms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Dashboard </a:t>
            </a:r>
            <a:r>
              <a:rPr dirty="0" err="1">
                <a:latin typeface="Times New Roman" panose="02020603050405020304" pitchFamily="18" charset="0"/>
              </a:rPr>
              <a:t>Tổng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hợp</a:t>
            </a:r>
            <a:endParaRPr dirty="0">
              <a:latin typeface="Times New Roman" panose="02020603050405020304" pitchFamily="18" charset="0"/>
            </a:endParaRP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5567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Cơ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chế</a:t>
            </a:r>
            <a:r>
              <a:rPr dirty="0">
                <a:latin typeface="Times New Roman" panose="02020603050405020304" pitchFamily="18" charset="0"/>
              </a:rPr>
              <a:t> Quản </a:t>
            </a:r>
            <a:r>
              <a:rPr dirty="0" err="1">
                <a:latin typeface="Times New Roman" panose="02020603050405020304" pitchFamily="18" charset="0"/>
              </a:rPr>
              <a:t>lý</a:t>
            </a:r>
            <a:r>
              <a:rPr dirty="0">
                <a:latin typeface="Times New Roman" panose="02020603050405020304" pitchFamily="18" charset="0"/>
              </a:rPr>
              <a:t> Buffer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433" y="1097280"/>
            <a:ext cx="548640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5B7D1"/>
                </a:solidFill>
              </a:defRPr>
            </a:pPr>
            <a:r>
              <a:rPr sz="3200" dirty="0">
                <a:latin typeface="Times New Roman" panose="02020603050405020304" pitchFamily="18" charset="0"/>
              </a:rPr>
              <a:t>OpenCV — </a:t>
            </a:r>
            <a:r>
              <a:rPr sz="3200" dirty="0" err="1">
                <a:latin typeface="Times New Roman" panose="02020603050405020304" pitchFamily="18" charset="0"/>
              </a:rPr>
              <a:t>Không</a:t>
            </a:r>
            <a:r>
              <a:rPr sz="3200" dirty="0">
                <a:latin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</a:rPr>
              <a:t>có</a:t>
            </a:r>
            <a:r>
              <a:rPr sz="3200" dirty="0">
                <a:latin typeface="Times New Roman" panose="02020603050405020304" pitchFamily="18" charset="0"/>
              </a:rPr>
              <a:t> buffer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 err="1">
                <a:latin typeface="Times New Roman" panose="02020603050405020304" pitchFamily="18" charset="0"/>
              </a:rPr>
              <a:t>cap.read</a:t>
            </a:r>
            <a:r>
              <a:rPr sz="1600" dirty="0">
                <a:latin typeface="Times New Roman" panose="02020603050405020304" pitchFamily="18" charset="0"/>
              </a:rPr>
              <a:t>() → process → display → </a:t>
            </a:r>
            <a:r>
              <a:rPr sz="1600" dirty="0" err="1">
                <a:latin typeface="Times New Roman" panose="02020603050405020304" pitchFamily="18" charset="0"/>
              </a:rPr>
              <a:t>cap.read</a:t>
            </a:r>
            <a:r>
              <a:rPr sz="1600" dirty="0">
                <a:latin typeface="Times New Roman" panose="02020603050405020304" pitchFamily="18" charset="0"/>
              </a:rPr>
              <a:t>() → ...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Tuần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tự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hoàn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toàn</a:t>
            </a:r>
            <a:r>
              <a:rPr sz="1600" dirty="0">
                <a:latin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</a:rPr>
              <a:t>không</a:t>
            </a:r>
            <a:r>
              <a:rPr sz="1600" dirty="0">
                <a:latin typeface="Times New Roman" panose="02020603050405020304" pitchFamily="18" charset="0"/>
              </a:rPr>
              <a:t> queue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Mỗi</a:t>
            </a:r>
            <a:r>
              <a:rPr sz="1600" dirty="0">
                <a:latin typeface="Times New Roman" panose="02020603050405020304" pitchFamily="18" charset="0"/>
              </a:rPr>
              <a:t> frame </a:t>
            </a:r>
            <a:r>
              <a:rPr sz="1600" dirty="0" err="1">
                <a:latin typeface="Times New Roman" panose="02020603050405020304" pitchFamily="18" charset="0"/>
              </a:rPr>
              <a:t>phải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chờ</a:t>
            </a:r>
            <a:r>
              <a:rPr sz="1600" dirty="0">
                <a:latin typeface="Times New Roman" panose="02020603050405020304" pitchFamily="18" charset="0"/>
              </a:rPr>
              <a:t> frame </a:t>
            </a:r>
            <a:r>
              <a:rPr sz="1600" dirty="0" err="1">
                <a:latin typeface="Times New Roman" panose="02020603050405020304" pitchFamily="18" charset="0"/>
              </a:rPr>
              <a:t>trước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xử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lý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xong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Ưu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điểm</a:t>
            </a:r>
            <a:r>
              <a:rPr sz="1600" dirty="0">
                <a:latin typeface="Times New Roman" panose="02020603050405020304" pitchFamily="18" charset="0"/>
              </a:rPr>
              <a:t>: </a:t>
            </a:r>
            <a:r>
              <a:rPr sz="1600" dirty="0" err="1">
                <a:latin typeface="Times New Roman" panose="02020603050405020304" pitchFamily="18" charset="0"/>
              </a:rPr>
              <a:t>Không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mất</a:t>
            </a:r>
            <a:r>
              <a:rPr sz="1600" dirty="0">
                <a:latin typeface="Times New Roman" panose="02020603050405020304" pitchFamily="18" charset="0"/>
              </a:rPr>
              <a:t> frame (3686/3686)</a:t>
            </a:r>
          </a:p>
          <a:p>
            <a:pPr>
              <a:spcBef>
                <a:spcPts val="400"/>
              </a:spcBef>
              <a:defRPr sz="1400" b="0">
                <a:solidFill>
                  <a:srgbClr val="FF6B6B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Nhược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điểm</a:t>
            </a:r>
            <a:r>
              <a:rPr sz="1600" dirty="0">
                <a:latin typeface="Times New Roman" panose="02020603050405020304" pitchFamily="18" charset="0"/>
              </a:rPr>
              <a:t>: </a:t>
            </a:r>
            <a:r>
              <a:rPr sz="1600" dirty="0" err="1">
                <a:latin typeface="Times New Roman" panose="02020603050405020304" pitchFamily="18" charset="0"/>
              </a:rPr>
              <a:t>Chậm</a:t>
            </a:r>
            <a:r>
              <a:rPr sz="1600" dirty="0">
                <a:latin typeface="Times New Roman" panose="02020603050405020304" pitchFamily="18" charset="0"/>
              </a:rPr>
              <a:t>, FPS </a:t>
            </a:r>
            <a:r>
              <a:rPr sz="1600" dirty="0" err="1">
                <a:latin typeface="Times New Roman" panose="02020603050405020304" pitchFamily="18" charset="0"/>
              </a:rPr>
              <a:t>bị</a:t>
            </a:r>
            <a:r>
              <a:rPr sz="1600" dirty="0">
                <a:latin typeface="Times New Roman" panose="02020603050405020304" pitchFamily="18" charset="0"/>
              </a:rPr>
              <a:t> bottleneck </a:t>
            </a:r>
            <a:r>
              <a:rPr sz="1600" dirty="0" err="1">
                <a:latin typeface="Times New Roman" panose="02020603050405020304" pitchFamily="18" charset="0"/>
              </a:rPr>
              <a:t>bởi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bước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chậm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nhất</a:t>
            </a:r>
            <a:endParaRPr sz="1600" dirty="0"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430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DC4"/>
                </a:solidFill>
              </a:defRPr>
            </a:pPr>
            <a:r>
              <a:rPr sz="3200" dirty="0" err="1">
                <a:latin typeface="Times New Roman" panose="02020603050405020304" pitchFamily="18" charset="0"/>
              </a:rPr>
              <a:t>GStreamer</a:t>
            </a:r>
            <a:r>
              <a:rPr sz="3200" dirty="0">
                <a:latin typeface="Times New Roman" panose="02020603050405020304" pitchFamily="18" charset="0"/>
              </a:rPr>
              <a:t> — Queue-based Buffer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 err="1">
                <a:latin typeface="Times New Roman" panose="02020603050405020304" pitchFamily="18" charset="0"/>
              </a:rPr>
              <a:t>appsink</a:t>
            </a:r>
            <a:r>
              <a:rPr sz="1600" dirty="0">
                <a:latin typeface="Times New Roman" panose="02020603050405020304" pitchFamily="18" charset="0"/>
              </a:rPr>
              <a:t>: max-buffers=5, drop=true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 err="1">
                <a:latin typeface="Times New Roman" panose="02020603050405020304" pitchFamily="18" charset="0"/>
              </a:rPr>
              <a:t>frame_queue</a:t>
            </a:r>
            <a:r>
              <a:rPr sz="1600" dirty="0">
                <a:latin typeface="Times New Roman" panose="02020603050405020304" pitchFamily="18" charset="0"/>
              </a:rPr>
              <a:t>: </a:t>
            </a:r>
            <a:r>
              <a:rPr sz="1600" dirty="0" err="1">
                <a:latin typeface="Times New Roman" panose="02020603050405020304" pitchFamily="18" charset="0"/>
              </a:rPr>
              <a:t>maxsize</a:t>
            </a:r>
            <a:r>
              <a:rPr sz="1600" dirty="0">
                <a:latin typeface="Times New Roman" panose="02020603050405020304" pitchFamily="18" charset="0"/>
              </a:rPr>
              <a:t>=5, </a:t>
            </a:r>
            <a:r>
              <a:rPr sz="1600" dirty="0" err="1">
                <a:latin typeface="Times New Roman" panose="02020603050405020304" pitchFamily="18" charset="0"/>
              </a:rPr>
              <a:t>put_nowait</a:t>
            </a:r>
            <a:r>
              <a:rPr sz="1600" dirty="0">
                <a:latin typeface="Times New Roman" panose="02020603050405020304" pitchFamily="18" charset="0"/>
              </a:rPr>
              <a:t>()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Khi AI </a:t>
            </a:r>
            <a:r>
              <a:rPr sz="1600" dirty="0" err="1">
                <a:latin typeface="Times New Roman" panose="02020603050405020304" pitchFamily="18" charset="0"/>
              </a:rPr>
              <a:t>chậm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hơn</a:t>
            </a:r>
            <a:r>
              <a:rPr sz="1600" dirty="0">
                <a:latin typeface="Times New Roman" panose="02020603050405020304" pitchFamily="18" charset="0"/>
              </a:rPr>
              <a:t> decode → queue </a:t>
            </a:r>
            <a:r>
              <a:rPr sz="1600" dirty="0" err="1">
                <a:latin typeface="Times New Roman" panose="02020603050405020304" pitchFamily="18" charset="0"/>
              </a:rPr>
              <a:t>đầy</a:t>
            </a:r>
            <a:r>
              <a:rPr sz="1600" dirty="0">
                <a:latin typeface="Times New Roman" panose="02020603050405020304" pitchFamily="18" charset="0"/>
              </a:rPr>
              <a:t> → DROP frame </a:t>
            </a:r>
            <a:r>
              <a:rPr sz="1600" dirty="0" err="1">
                <a:latin typeface="Times New Roman" panose="02020603050405020304" pitchFamily="18" charset="0"/>
              </a:rPr>
              <a:t>cũ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</a:t>
            </a:r>
            <a:r>
              <a:rPr sz="1600" dirty="0" err="1">
                <a:latin typeface="Times New Roman" panose="02020603050405020304" pitchFamily="18" charset="0"/>
              </a:rPr>
              <a:t>Luôn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xử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lý</a:t>
            </a:r>
            <a:r>
              <a:rPr sz="1600" dirty="0">
                <a:latin typeface="Times New Roman" panose="02020603050405020304" pitchFamily="18" charset="0"/>
              </a:rPr>
              <a:t> frame MỚI NHẤT (real-time)</a:t>
            </a:r>
          </a:p>
          <a:p>
            <a:pPr>
              <a:spcBef>
                <a:spcPts val="400"/>
              </a:spcBef>
              <a:defRPr sz="1400" b="0">
                <a:solidFill>
                  <a:srgbClr val="FF6B6B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Single: </a:t>
            </a:r>
            <a:r>
              <a:rPr sz="1600" dirty="0" err="1">
                <a:latin typeface="Times New Roman" panose="02020603050405020304" pitchFamily="18" charset="0"/>
              </a:rPr>
              <a:t>mất</a:t>
            </a:r>
            <a:r>
              <a:rPr sz="1600" dirty="0">
                <a:latin typeface="Times New Roman" panose="02020603050405020304" pitchFamily="18" charset="0"/>
              </a:rPr>
              <a:t> ~200 frame (3488/3686)</a:t>
            </a:r>
          </a:p>
          <a:p>
            <a:pPr>
              <a:spcBef>
                <a:spcPts val="400"/>
              </a:spcBef>
              <a:defRPr sz="1400" b="0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• Multi: </a:t>
            </a:r>
            <a:r>
              <a:rPr sz="1600" dirty="0" err="1">
                <a:latin typeface="Times New Roman" panose="02020603050405020304" pitchFamily="18" charset="0"/>
              </a:rPr>
              <a:t>mất</a:t>
            </a:r>
            <a:r>
              <a:rPr sz="1600" dirty="0">
                <a:latin typeface="Times New Roman" panose="02020603050405020304" pitchFamily="18" charset="0"/>
              </a:rPr>
              <a:t> ~6 frame (3680/3686) — </a:t>
            </a:r>
            <a:r>
              <a:rPr sz="1600" dirty="0" err="1">
                <a:latin typeface="Times New Roman" panose="02020603050405020304" pitchFamily="18" charset="0"/>
              </a:rPr>
              <a:t>gần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như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không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mất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Trade-off: </a:t>
            </a:r>
            <a:r>
              <a:rPr dirty="0" err="1">
                <a:latin typeface="Times New Roman" panose="02020603050405020304" pitchFamily="18" charset="0"/>
              </a:rPr>
              <a:t>Mất</a:t>
            </a:r>
            <a:r>
              <a:rPr dirty="0">
                <a:latin typeface="Times New Roman" panose="02020603050405020304" pitchFamily="18" charset="0"/>
              </a:rPr>
              <a:t> frame vs Real-time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→ Trong </a:t>
            </a:r>
            <a:r>
              <a:rPr dirty="0" err="1">
                <a:latin typeface="Times New Roman" panose="02020603050405020304" pitchFamily="18" charset="0"/>
              </a:rPr>
              <a:t>ứng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dụng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giám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sát</a:t>
            </a:r>
            <a:r>
              <a:rPr dirty="0">
                <a:latin typeface="Times New Roman" panose="02020603050405020304" pitchFamily="18" charset="0"/>
              </a:rPr>
              <a:t>, real-time </a:t>
            </a:r>
            <a:r>
              <a:rPr dirty="0" err="1">
                <a:latin typeface="Times New Roman" panose="02020603050405020304" pitchFamily="18" charset="0"/>
              </a:rPr>
              <a:t>quan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trọng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hơn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xử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lý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hết</a:t>
            </a:r>
            <a:r>
              <a:rPr dirty="0">
                <a:latin typeface="Times New Roman" panose="02020603050405020304" pitchFamily="18" charset="0"/>
              </a:rPr>
              <a:t> frame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Cơ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chế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Đa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(Multi-Threading)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rPr sz="2800" dirty="0">
                <a:latin typeface="Times New Roman" panose="02020603050405020304" pitchFamily="18" charset="0"/>
              </a:rPr>
              <a:t>Single-Thread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Main Thread: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while True: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 pump </a:t>
            </a:r>
            <a:r>
              <a:rPr sz="1600" dirty="0" err="1">
                <a:latin typeface="Times New Roman" panose="02020603050405020304" pitchFamily="18" charset="0"/>
              </a:rPr>
              <a:t>GStreamer</a:t>
            </a:r>
            <a:r>
              <a:rPr sz="1600" dirty="0">
                <a:latin typeface="Times New Roman" panose="02020603050405020304" pitchFamily="18" charset="0"/>
              </a:rPr>
              <a:t> events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 get frame from queue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 preprocess (2-3ms)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 inference (11-15ms)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 postprocess (14ms)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 display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1">
                <a:solidFill>
                  <a:srgbClr val="FF6B6B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→ AI block display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→ Display </a:t>
            </a:r>
            <a:r>
              <a:rPr sz="1600" dirty="0" err="1">
                <a:latin typeface="Times New Roman" panose="02020603050405020304" pitchFamily="18" charset="0"/>
              </a:rPr>
              <a:t>phải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chờ</a:t>
            </a:r>
            <a:r>
              <a:rPr sz="1600" dirty="0">
                <a:latin typeface="Times New Roman" panose="02020603050405020304" pitchFamily="18" charset="0"/>
              </a:rPr>
              <a:t> inference </a:t>
            </a:r>
            <a:r>
              <a:rPr sz="1600" dirty="0" err="1">
                <a:latin typeface="Times New Roman" panose="02020603050405020304" pitchFamily="18" charset="0"/>
              </a:rPr>
              <a:t>xong</a:t>
            </a:r>
            <a:endParaRPr sz="1600" dirty="0"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0" y="1097280"/>
            <a:ext cx="3657600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DC4"/>
                </a:solidFill>
              </a:defRPr>
            </a:pPr>
            <a:r>
              <a:rPr sz="2800" dirty="0">
                <a:latin typeface="Times New Roman" panose="02020603050405020304" pitchFamily="18" charset="0"/>
              </a:rPr>
              <a:t>Multi-Thread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AI Worker Thread: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while True: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 get frame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 preprocess → inference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 → postprocess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 put result to </a:t>
            </a:r>
            <a:r>
              <a:rPr sz="1600" dirty="0" err="1">
                <a:latin typeface="Times New Roman" panose="02020603050405020304" pitchFamily="18" charset="0"/>
              </a:rPr>
              <a:t>result_queue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Main Thread: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pump </a:t>
            </a:r>
            <a:r>
              <a:rPr sz="1600" dirty="0" err="1">
                <a:latin typeface="Times New Roman" panose="02020603050405020304" pitchFamily="18" charset="0"/>
              </a:rPr>
              <a:t>GStreamer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get result (non-blocking)</a:t>
            </a:r>
          </a:p>
          <a:p>
            <a:pPr>
              <a:spcBef>
                <a:spcPts val="400"/>
              </a:spcBef>
              <a:defRPr sz="1300" b="0">
                <a:solidFill>
                  <a:srgbClr val="00D2FF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display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1">
                <a:solidFill>
                  <a:srgbClr val="4ECDC4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→ AI </a:t>
            </a:r>
            <a:r>
              <a:rPr dirty="0" err="1">
                <a:latin typeface="Times New Roman" panose="02020603050405020304" pitchFamily="18" charset="0"/>
              </a:rPr>
              <a:t>và</a:t>
            </a:r>
            <a:r>
              <a:rPr dirty="0">
                <a:latin typeface="Times New Roman" panose="02020603050405020304" pitchFamily="18" charset="0"/>
              </a:rPr>
              <a:t> Display </a:t>
            </a:r>
            <a:r>
              <a:rPr dirty="0" err="1">
                <a:latin typeface="Times New Roman" panose="02020603050405020304" pitchFamily="18" charset="0"/>
              </a:rPr>
              <a:t>chạy</a:t>
            </a:r>
            <a:r>
              <a:rPr dirty="0">
                <a:latin typeface="Times New Roman" panose="02020603050405020304" pitchFamily="18" charset="0"/>
              </a:rPr>
              <a:t> song </a:t>
            </a:r>
            <a:r>
              <a:rPr dirty="0" err="1">
                <a:latin typeface="Times New Roman" panose="02020603050405020304" pitchFamily="18" charset="0"/>
              </a:rPr>
              <a:t>song</a:t>
            </a:r>
            <a:r>
              <a:rPr dirty="0">
                <a:latin typeface="Times New Roman" panose="02020603050405020304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0"/>
            <a:ext cx="3474720" cy="442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28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Kết</a:t>
            </a:r>
            <a:r>
              <a:rPr sz="2800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sz="28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quả</a:t>
            </a:r>
            <a:r>
              <a:rPr sz="2800" dirty="0">
                <a:solidFill>
                  <a:srgbClr val="FFFF00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Display FPS:</a:t>
            </a:r>
          </a:p>
          <a:p>
            <a:pPr>
              <a:spcBef>
                <a:spcPts val="400"/>
              </a:spcBef>
              <a:defRPr sz="1400" b="0">
                <a:solidFill>
                  <a:srgbClr val="FF6B6B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Single: ~23-25 FPS</a:t>
            </a:r>
          </a:p>
          <a:p>
            <a:pPr>
              <a:spcBef>
                <a:spcPts val="400"/>
              </a:spcBef>
              <a:defRPr sz="1400" b="0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Multi:  ~30-35 FPS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Frame </a:t>
            </a:r>
            <a:r>
              <a:rPr dirty="0" err="1">
                <a:latin typeface="Times New Roman" panose="02020603050405020304" pitchFamily="18" charset="0"/>
              </a:rPr>
              <a:t>mất</a:t>
            </a:r>
            <a:r>
              <a:rPr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400"/>
              </a:spcBef>
              <a:defRPr sz="1400" b="0">
                <a:solidFill>
                  <a:srgbClr val="FF6B6B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Single: ~200 frame</a:t>
            </a:r>
          </a:p>
          <a:p>
            <a:pPr>
              <a:spcBef>
                <a:spcPts val="400"/>
              </a:spcBef>
              <a:defRPr sz="1400" b="0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Multi:  ~6 frame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00D2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→ Multi-thread </a:t>
            </a:r>
            <a:r>
              <a:rPr dirty="0" err="1">
                <a:latin typeface="Times New Roman" panose="02020603050405020304" pitchFamily="18" charset="0"/>
              </a:rPr>
              <a:t>giúp</a:t>
            </a:r>
            <a:r>
              <a:rPr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400"/>
              </a:spcBef>
              <a:defRPr sz="1400" b="0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FPS </a:t>
            </a:r>
            <a:r>
              <a:rPr sz="1600" dirty="0" err="1">
                <a:latin typeface="Times New Roman" panose="02020603050405020304" pitchFamily="18" charset="0"/>
              </a:rPr>
              <a:t>tăng</a:t>
            </a:r>
            <a:r>
              <a:rPr sz="1600" dirty="0">
                <a:latin typeface="Times New Roman" panose="02020603050405020304" pitchFamily="18" charset="0"/>
              </a:rPr>
              <a:t> 30-40%</a:t>
            </a:r>
          </a:p>
          <a:p>
            <a:pPr>
              <a:spcBef>
                <a:spcPts val="400"/>
              </a:spcBef>
              <a:defRPr sz="1400" b="0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</a:rPr>
              <a:t>Mất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ít</a:t>
            </a:r>
            <a:r>
              <a:rPr sz="1600" dirty="0">
                <a:latin typeface="Times New Roman" panose="02020603050405020304" pitchFamily="18" charset="0"/>
              </a:rPr>
              <a:t> frame </a:t>
            </a:r>
            <a:r>
              <a:rPr sz="1600" dirty="0" err="1">
                <a:latin typeface="Times New Roman" panose="02020603050405020304" pitchFamily="18" charset="0"/>
              </a:rPr>
              <a:t>hơn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Latency </a:t>
            </a:r>
            <a:r>
              <a:rPr sz="1600" dirty="0" err="1">
                <a:latin typeface="Times New Roman" panose="02020603050405020304" pitchFamily="18" charset="0"/>
              </a:rPr>
              <a:t>ổn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định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hơn</a:t>
            </a:r>
            <a:endParaRPr sz="1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Đánh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giá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khi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triển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khai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trên</a:t>
            </a:r>
            <a:r>
              <a:rPr dirty="0">
                <a:latin typeface="Times New Roman" panose="02020603050405020304" pitchFamily="18" charset="0"/>
              </a:rPr>
              <a:t> Edge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</a:rPr>
              <a:t>RTX 5070 (Desktop) → Edge Device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00D2FF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Hiệu </a:t>
            </a:r>
            <a:r>
              <a:rPr dirty="0" err="1">
                <a:latin typeface="Times New Roman" panose="02020603050405020304" pitchFamily="18" charset="0"/>
              </a:rPr>
              <a:t>suất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hiện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tại</a:t>
            </a:r>
            <a:r>
              <a:rPr dirty="0">
                <a:latin typeface="Times New Roman" panose="02020603050405020304" pitchFamily="18" charset="0"/>
              </a:rPr>
              <a:t> (RTX 5070):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Inference: ~11ms (CUDA FP32)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AI FPS: ~35 FPS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Display FPS: ~25-35 FPS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FF6B6B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Dự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đoán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trên</a:t>
            </a:r>
            <a:r>
              <a:rPr dirty="0">
                <a:latin typeface="Times New Roman" panose="02020603050405020304" pitchFamily="18" charset="0"/>
              </a:rPr>
              <a:t> Edge (Jetson Orin Nano):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Inference: ~50-80ms (</a:t>
            </a:r>
            <a:r>
              <a:rPr sz="1600" dirty="0" err="1">
                <a:latin typeface="Times New Roman" panose="02020603050405020304" pitchFamily="18" charset="0"/>
              </a:rPr>
              <a:t>TensorRT</a:t>
            </a:r>
            <a:r>
              <a:rPr sz="1600" dirty="0">
                <a:latin typeface="Times New Roman" panose="02020603050405020304" pitchFamily="18" charset="0"/>
              </a:rPr>
              <a:t> FP16)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AI FPS: ~12-20 FPS</a:t>
            </a:r>
          </a:p>
          <a:p>
            <a:pPr>
              <a:spcBef>
                <a:spcPts val="400"/>
              </a:spcBef>
              <a:defRPr sz="1400" b="0">
                <a:solidFill>
                  <a:srgbClr val="FF6B6B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</a:rPr>
              <a:t>Giảm</a:t>
            </a:r>
            <a:r>
              <a:rPr sz="1600" dirty="0">
                <a:latin typeface="Times New Roman" panose="02020603050405020304" pitchFamily="18" charset="0"/>
              </a:rPr>
              <a:t> 3-5x so </a:t>
            </a:r>
            <a:r>
              <a:rPr sz="1600" dirty="0" err="1">
                <a:latin typeface="Times New Roman" panose="02020603050405020304" pitchFamily="18" charset="0"/>
              </a:rPr>
              <a:t>với</a:t>
            </a:r>
            <a:r>
              <a:rPr sz="1600" dirty="0">
                <a:latin typeface="Times New Roman" panose="02020603050405020304" pitchFamily="18" charset="0"/>
              </a:rPr>
              <a:t> desktop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FF6B6B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Dự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đoán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trên</a:t>
            </a:r>
            <a:r>
              <a:rPr dirty="0">
                <a:latin typeface="Times New Roman" panose="02020603050405020304" pitchFamily="18" charset="0"/>
              </a:rPr>
              <a:t> Edge (Raspberry Pi 5 + Hailo):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Inference: ~100-200ms (NPU INT8)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AI FPS: ~5-10 FPS</a:t>
            </a:r>
          </a:p>
          <a:p>
            <a:pPr>
              <a:spcBef>
                <a:spcPts val="400"/>
              </a:spcBef>
              <a:defRPr sz="1400" b="0">
                <a:solidFill>
                  <a:srgbClr val="FF6B6B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</a:rPr>
              <a:t>Giảm</a:t>
            </a:r>
            <a:r>
              <a:rPr sz="1600" dirty="0">
                <a:latin typeface="Times New Roman" panose="02020603050405020304" pitchFamily="18" charset="0"/>
              </a:rPr>
              <a:t> 5-10x so </a:t>
            </a:r>
            <a:r>
              <a:rPr sz="1600" dirty="0" err="1">
                <a:latin typeface="Times New Roman" panose="02020603050405020304" pitchFamily="18" charset="0"/>
              </a:rPr>
              <a:t>với</a:t>
            </a:r>
            <a:r>
              <a:rPr sz="1600" dirty="0">
                <a:latin typeface="Times New Roman" panose="02020603050405020304" pitchFamily="18" charset="0"/>
              </a:rPr>
              <a:t>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05840"/>
            <a:ext cx="5486400" cy="456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2000" dirty="0" err="1">
                <a:latin typeface="Times New Roman" panose="02020603050405020304" pitchFamily="18" charset="0"/>
              </a:rPr>
              <a:t>Ảnh</a:t>
            </a:r>
            <a:r>
              <a:rPr sz="2000" dirty="0">
                <a:latin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</a:rPr>
              <a:t>hưởng</a:t>
            </a:r>
            <a:r>
              <a:rPr sz="2000" dirty="0">
                <a:latin typeface="Times New Roman" panose="02020603050405020304" pitchFamily="18" charset="0"/>
              </a:rPr>
              <a:t> &amp; </a:t>
            </a:r>
            <a:r>
              <a:rPr sz="2000" dirty="0" err="1">
                <a:latin typeface="Times New Roman" panose="02020603050405020304" pitchFamily="18" charset="0"/>
              </a:rPr>
              <a:t>Giải</a:t>
            </a:r>
            <a:r>
              <a:rPr sz="2000" dirty="0">
                <a:latin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</a:rPr>
              <a:t>pháp</a:t>
            </a:r>
            <a:r>
              <a:rPr sz="2000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FF6B6B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⚠ </a:t>
            </a:r>
            <a:r>
              <a:rPr dirty="0" err="1">
                <a:latin typeface="Times New Roman" panose="02020603050405020304" pitchFamily="18" charset="0"/>
              </a:rPr>
              <a:t>Vấn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đề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trên</a:t>
            </a:r>
            <a:r>
              <a:rPr dirty="0">
                <a:latin typeface="Times New Roman" panose="02020603050405020304" pitchFamily="18" charset="0"/>
              </a:rPr>
              <a:t> Edge: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Inference </a:t>
            </a:r>
            <a:r>
              <a:rPr sz="1600" dirty="0" err="1">
                <a:latin typeface="Times New Roman" panose="02020603050405020304" pitchFamily="18" charset="0"/>
              </a:rPr>
              <a:t>chậm</a:t>
            </a:r>
            <a:r>
              <a:rPr sz="1600" dirty="0">
                <a:latin typeface="Times New Roman" panose="02020603050405020304" pitchFamily="18" charset="0"/>
              </a:rPr>
              <a:t> → queue </a:t>
            </a:r>
            <a:r>
              <a:rPr sz="1600" dirty="0" err="1">
                <a:latin typeface="Times New Roman" panose="02020603050405020304" pitchFamily="18" charset="0"/>
              </a:rPr>
              <a:t>tràn</a:t>
            </a:r>
            <a:r>
              <a:rPr sz="1600" dirty="0">
                <a:latin typeface="Times New Roman" panose="02020603050405020304" pitchFamily="18" charset="0"/>
              </a:rPr>
              <a:t> → </a:t>
            </a:r>
            <a:r>
              <a:rPr sz="1600" dirty="0" err="1">
                <a:latin typeface="Times New Roman" panose="02020603050405020304" pitchFamily="18" charset="0"/>
              </a:rPr>
              <a:t>mất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nhiều</a:t>
            </a:r>
            <a:r>
              <a:rPr sz="1600" dirty="0">
                <a:latin typeface="Times New Roman" panose="02020603050405020304" pitchFamily="18" charset="0"/>
              </a:rPr>
              <a:t> frame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RAM </a:t>
            </a:r>
            <a:r>
              <a:rPr sz="1600" dirty="0" err="1">
                <a:latin typeface="Times New Roman" panose="02020603050405020304" pitchFamily="18" charset="0"/>
              </a:rPr>
              <a:t>hạn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chế</a:t>
            </a:r>
            <a:r>
              <a:rPr sz="1600" dirty="0">
                <a:latin typeface="Times New Roman" panose="02020603050405020304" pitchFamily="18" charset="0"/>
              </a:rPr>
              <a:t> → buffer queue </a:t>
            </a:r>
            <a:r>
              <a:rPr sz="1600" dirty="0" err="1">
                <a:latin typeface="Times New Roman" panose="02020603050405020304" pitchFamily="18" charset="0"/>
              </a:rPr>
              <a:t>phải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nhỏ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hơn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CPU </a:t>
            </a:r>
            <a:r>
              <a:rPr sz="1600" dirty="0" err="1">
                <a:latin typeface="Times New Roman" panose="02020603050405020304" pitchFamily="18" charset="0"/>
              </a:rPr>
              <a:t>yếu</a:t>
            </a:r>
            <a:r>
              <a:rPr sz="1600" dirty="0">
                <a:latin typeface="Times New Roman" panose="02020603050405020304" pitchFamily="18" charset="0"/>
              </a:rPr>
              <a:t> → postprocess (NMS) </a:t>
            </a:r>
            <a:r>
              <a:rPr sz="1600" dirty="0" err="1">
                <a:latin typeface="Times New Roman" panose="02020603050405020304" pitchFamily="18" charset="0"/>
              </a:rPr>
              <a:t>trở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thành</a:t>
            </a:r>
            <a:r>
              <a:rPr sz="1600" dirty="0">
                <a:latin typeface="Times New Roman" panose="02020603050405020304" pitchFamily="18" charset="0"/>
              </a:rPr>
              <a:t> bottleneck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</a:rPr>
              <a:t>Không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đạt</a:t>
            </a:r>
            <a:r>
              <a:rPr sz="1600" dirty="0">
                <a:latin typeface="Times New Roman" panose="02020603050405020304" pitchFamily="18" charset="0"/>
              </a:rPr>
              <a:t> real-time 25 FPS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600" b="1">
                <a:solidFill>
                  <a:srgbClr val="4ECDC4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✅ </a:t>
            </a:r>
            <a:r>
              <a:rPr dirty="0" err="1">
                <a:latin typeface="Times New Roman" panose="02020603050405020304" pitchFamily="18" charset="0"/>
              </a:rPr>
              <a:t>Giải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pháp</a:t>
            </a:r>
            <a:r>
              <a:rPr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</a:rPr>
              <a:t>Dùng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TensorRT</a:t>
            </a:r>
            <a:r>
              <a:rPr sz="1600" dirty="0">
                <a:latin typeface="Times New Roman" panose="02020603050405020304" pitchFamily="18" charset="0"/>
              </a:rPr>
              <a:t> + FP16/INT8 quantization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</a:rPr>
              <a:t>Giảm</a:t>
            </a:r>
            <a:r>
              <a:rPr sz="1600" dirty="0">
                <a:latin typeface="Times New Roman" panose="02020603050405020304" pitchFamily="18" charset="0"/>
              </a:rPr>
              <a:t> input size: 640→320 (</a:t>
            </a:r>
            <a:r>
              <a:rPr sz="1600" dirty="0" err="1">
                <a:latin typeface="Times New Roman" panose="02020603050405020304" pitchFamily="18" charset="0"/>
              </a:rPr>
              <a:t>giảm</a:t>
            </a:r>
            <a:r>
              <a:rPr sz="1600" dirty="0">
                <a:latin typeface="Times New Roman" panose="02020603050405020304" pitchFamily="18" charset="0"/>
              </a:rPr>
              <a:t> 4x compute)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Skip frame: </a:t>
            </a:r>
            <a:r>
              <a:rPr sz="1600" dirty="0" err="1">
                <a:latin typeface="Times New Roman" panose="02020603050405020304" pitchFamily="18" charset="0"/>
              </a:rPr>
              <a:t>chỉ</a:t>
            </a:r>
            <a:r>
              <a:rPr sz="1600" dirty="0">
                <a:latin typeface="Times New Roman" panose="02020603050405020304" pitchFamily="18" charset="0"/>
              </a:rPr>
              <a:t> detect </a:t>
            </a:r>
            <a:r>
              <a:rPr sz="1600" dirty="0" err="1">
                <a:latin typeface="Times New Roman" panose="02020603050405020304" pitchFamily="18" charset="0"/>
              </a:rPr>
              <a:t>mỗi</a:t>
            </a:r>
            <a:r>
              <a:rPr sz="1600" dirty="0">
                <a:latin typeface="Times New Roman" panose="02020603050405020304" pitchFamily="18" charset="0"/>
              </a:rPr>
              <a:t> 2-3 frame</a:t>
            </a:r>
          </a:p>
          <a:p>
            <a:pPr>
              <a:spcBef>
                <a:spcPts val="400"/>
              </a:spcBef>
              <a:defRPr sz="1400" b="0">
                <a:solidFill>
                  <a:srgbClr val="4ECDC4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</a:rPr>
              <a:t>GStreamer</a:t>
            </a:r>
            <a:r>
              <a:rPr sz="1600" dirty="0">
                <a:latin typeface="Times New Roman" panose="02020603050405020304" pitchFamily="18" charset="0"/>
              </a:rPr>
              <a:t> Multi-thread </a:t>
            </a:r>
            <a:r>
              <a:rPr lang="en-US" sz="1600" dirty="0" err="1">
                <a:latin typeface="Times New Roman" panose="02020603050405020304" pitchFamily="18" charset="0"/>
              </a:rPr>
              <a:t>cực</a:t>
            </a:r>
            <a:r>
              <a:rPr lang="en-US" sz="1600" dirty="0">
                <a:latin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</a:rPr>
              <a:t>kỳ</a:t>
            </a:r>
            <a:r>
              <a:rPr lang="en-US" sz="1600" dirty="0">
                <a:latin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</a:rPr>
              <a:t>quan</a:t>
            </a:r>
            <a:r>
              <a:rPr lang="en-US" sz="1600" dirty="0">
                <a:latin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</a:rPr>
              <a:t>trọng</a:t>
            </a:r>
            <a:r>
              <a:rPr lang="en-US"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trên</a:t>
            </a:r>
            <a:r>
              <a:rPr sz="1600" dirty="0">
                <a:latin typeface="Times New Roman" panose="02020603050405020304" pitchFamily="18" charset="0"/>
              </a:rPr>
              <a:t> Edge </a:t>
            </a:r>
            <a:r>
              <a:rPr sz="1600" dirty="0" err="1">
                <a:latin typeface="Times New Roman" panose="02020603050405020304" pitchFamily="18" charset="0"/>
              </a:rPr>
              <a:t>vì</a:t>
            </a:r>
            <a:r>
              <a:rPr sz="1600" dirty="0">
                <a:latin typeface="Times New Roman" panose="02020603050405020304" pitchFamily="18" charset="0"/>
              </a:rPr>
              <a:t> inference </a:t>
            </a:r>
            <a:r>
              <a:rPr sz="1600" dirty="0" err="1">
                <a:latin typeface="Times New Roman" panose="02020603050405020304" pitchFamily="18" charset="0"/>
              </a:rPr>
              <a:t>chậm</a:t>
            </a:r>
            <a:r>
              <a:rPr sz="1600" dirty="0">
                <a:latin typeface="Times New Roman" panose="02020603050405020304" pitchFamily="18" charset="0"/>
              </a:rPr>
              <a:t> → </a:t>
            </a:r>
            <a:r>
              <a:rPr sz="1600" dirty="0" err="1">
                <a:latin typeface="Times New Roman" panose="02020603050405020304" pitchFamily="18" charset="0"/>
              </a:rPr>
              <a:t>cần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tách</a:t>
            </a:r>
            <a:r>
              <a:rPr sz="1600" dirty="0">
                <a:latin typeface="Times New Roman" panose="02020603050405020304" pitchFamily="18" charset="0"/>
              </a:rPr>
              <a:t> thread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</a:rPr>
              <a:t>Dùng</a:t>
            </a:r>
            <a:r>
              <a:rPr sz="1600" dirty="0">
                <a:latin typeface="Times New Roman" panose="02020603050405020304" pitchFamily="18" charset="0"/>
              </a:rPr>
              <a:t> hardware decoder (NVDEC/V4L2)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Kết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luận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2000" b="1">
                <a:solidFill>
                  <a:srgbClr val="4ECDC4"/>
                </a:solidFill>
              </a:defRPr>
            </a:pPr>
            <a:r>
              <a:rPr sz="2400" dirty="0">
                <a:latin typeface="Times New Roman" panose="02020603050405020304" pitchFamily="18" charset="0"/>
              </a:rPr>
              <a:t>1. </a:t>
            </a:r>
            <a:r>
              <a:rPr sz="2400" dirty="0" err="1">
                <a:latin typeface="Times New Roman" panose="02020603050405020304" pitchFamily="18" charset="0"/>
              </a:rPr>
              <a:t>GStreamer</a:t>
            </a:r>
            <a:r>
              <a:rPr sz="2400" dirty="0">
                <a:latin typeface="Times New Roman" panose="02020603050405020304" pitchFamily="18" charset="0"/>
              </a:rPr>
              <a:t> Multi-Thread </a:t>
            </a:r>
            <a:r>
              <a:rPr sz="2400" dirty="0" err="1">
                <a:latin typeface="Times New Roman" panose="02020603050405020304" pitchFamily="18" charset="0"/>
              </a:rPr>
              <a:t>là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phương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pháp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tốt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nhất</a:t>
            </a:r>
            <a:endParaRPr sz="24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• Display FPS </a:t>
            </a:r>
            <a:r>
              <a:rPr sz="1600" dirty="0" err="1">
                <a:latin typeface="Times New Roman" panose="02020603050405020304" pitchFamily="18" charset="0"/>
              </a:rPr>
              <a:t>cao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nhất</a:t>
            </a:r>
            <a:r>
              <a:rPr sz="1600" dirty="0">
                <a:latin typeface="Times New Roman" panose="02020603050405020304" pitchFamily="18" charset="0"/>
              </a:rPr>
              <a:t> (~30-35 FPS), </a:t>
            </a:r>
            <a:r>
              <a:rPr sz="1600" dirty="0" err="1">
                <a:latin typeface="Times New Roman" panose="02020603050405020304" pitchFamily="18" charset="0"/>
              </a:rPr>
              <a:t>ổn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định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nhất</a:t>
            </a:r>
            <a:r>
              <a:rPr sz="1600" dirty="0">
                <a:latin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</a:rPr>
              <a:t>mất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ít</a:t>
            </a:r>
            <a:r>
              <a:rPr sz="1600" dirty="0">
                <a:latin typeface="Times New Roman" panose="02020603050405020304" pitchFamily="18" charset="0"/>
              </a:rPr>
              <a:t> frame </a:t>
            </a:r>
            <a:r>
              <a:rPr sz="1600" dirty="0" err="1">
                <a:latin typeface="Times New Roman" panose="02020603050405020304" pitchFamily="18" charset="0"/>
              </a:rPr>
              <a:t>nhất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rPr sz="2400" dirty="0">
                <a:latin typeface="Times New Roman" panose="02020603050405020304" pitchFamily="18" charset="0"/>
              </a:rPr>
              <a:t>2. </a:t>
            </a:r>
            <a:r>
              <a:rPr sz="2400" dirty="0" err="1">
                <a:latin typeface="Times New Roman" panose="02020603050405020304" pitchFamily="18" charset="0"/>
              </a:rPr>
              <a:t>Cơ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chế</a:t>
            </a:r>
            <a:r>
              <a:rPr sz="2400" dirty="0">
                <a:latin typeface="Times New Roman" panose="02020603050405020304" pitchFamily="18" charset="0"/>
              </a:rPr>
              <a:t> buffer (queue + drop) </a:t>
            </a:r>
            <a:r>
              <a:rPr sz="2400" dirty="0" err="1">
                <a:latin typeface="Times New Roman" panose="02020603050405020304" pitchFamily="18" charset="0"/>
              </a:rPr>
              <a:t>đảm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bảo</a:t>
            </a:r>
            <a:r>
              <a:rPr sz="2400" dirty="0">
                <a:latin typeface="Times New Roman" panose="02020603050405020304" pitchFamily="18" charset="0"/>
              </a:rPr>
              <a:t> real-time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• Trade-off: </a:t>
            </a:r>
            <a:r>
              <a:rPr sz="1600" dirty="0" err="1">
                <a:latin typeface="Times New Roman" panose="02020603050405020304" pitchFamily="18" charset="0"/>
              </a:rPr>
              <a:t>mất</a:t>
            </a:r>
            <a:r>
              <a:rPr sz="1600" dirty="0">
                <a:latin typeface="Times New Roman" panose="02020603050405020304" pitchFamily="18" charset="0"/>
              </a:rPr>
              <a:t> frame </a:t>
            </a:r>
            <a:r>
              <a:rPr sz="1600" dirty="0" err="1">
                <a:latin typeface="Times New Roman" panose="02020603050405020304" pitchFamily="18" charset="0"/>
              </a:rPr>
              <a:t>cũ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để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luôn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xử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lý</a:t>
            </a:r>
            <a:r>
              <a:rPr sz="1600" dirty="0">
                <a:latin typeface="Times New Roman" panose="02020603050405020304" pitchFamily="18" charset="0"/>
              </a:rPr>
              <a:t> frame </a:t>
            </a:r>
            <a:r>
              <a:rPr sz="1600" dirty="0" err="1">
                <a:latin typeface="Times New Roman" panose="02020603050405020304" pitchFamily="18" charset="0"/>
              </a:rPr>
              <a:t>mới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nhất</a:t>
            </a: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rPr sz="2400" dirty="0">
                <a:latin typeface="Times New Roman" panose="02020603050405020304" pitchFamily="18" charset="0"/>
              </a:rPr>
              <a:t>3. Multi-threading </a:t>
            </a:r>
            <a:r>
              <a:rPr sz="2400" dirty="0" err="1">
                <a:latin typeface="Times New Roman" panose="02020603050405020304" pitchFamily="18" charset="0"/>
              </a:rPr>
              <a:t>giúp</a:t>
            </a:r>
            <a:r>
              <a:rPr sz="2400" dirty="0">
                <a:latin typeface="Times New Roman" panose="02020603050405020304" pitchFamily="18" charset="0"/>
              </a:rPr>
              <a:t> FPS </a:t>
            </a:r>
            <a:r>
              <a:rPr sz="2400" dirty="0" err="1">
                <a:latin typeface="Times New Roman" panose="02020603050405020304" pitchFamily="18" charset="0"/>
              </a:rPr>
              <a:t>tăng</a:t>
            </a:r>
            <a:r>
              <a:rPr sz="2400" dirty="0">
                <a:latin typeface="Times New Roman" panose="02020603050405020304" pitchFamily="18" charset="0"/>
              </a:rPr>
              <a:t> 30-40%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• </a:t>
            </a:r>
            <a:r>
              <a:rPr sz="1600" dirty="0" err="1">
                <a:latin typeface="Times New Roman" panose="02020603050405020304" pitchFamily="18" charset="0"/>
              </a:rPr>
              <a:t>Tách</a:t>
            </a:r>
            <a:r>
              <a:rPr sz="1600" dirty="0">
                <a:latin typeface="Times New Roman" panose="02020603050405020304" pitchFamily="18" charset="0"/>
              </a:rPr>
              <a:t> AI </a:t>
            </a:r>
            <a:r>
              <a:rPr sz="1600" dirty="0" err="1">
                <a:latin typeface="Times New Roman" panose="02020603050405020304" pitchFamily="18" charset="0"/>
              </a:rPr>
              <a:t>khỏi</a:t>
            </a:r>
            <a:r>
              <a:rPr sz="1600" dirty="0">
                <a:latin typeface="Times New Roman" panose="02020603050405020304" pitchFamily="18" charset="0"/>
              </a:rPr>
              <a:t> main thread → display </a:t>
            </a:r>
            <a:r>
              <a:rPr sz="1600" dirty="0" err="1">
                <a:latin typeface="Times New Roman" panose="02020603050405020304" pitchFamily="18" charset="0"/>
              </a:rPr>
              <a:t>không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bị</a:t>
            </a:r>
            <a:r>
              <a:rPr sz="1600" dirty="0">
                <a:latin typeface="Times New Roman" panose="02020603050405020304" pitchFamily="18" charset="0"/>
              </a:rPr>
              <a:t> block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endParaRPr sz="16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2000" b="1">
                <a:solidFill>
                  <a:srgbClr val="FF6B6B"/>
                </a:solidFill>
              </a:defRPr>
            </a:pPr>
            <a:r>
              <a:rPr sz="2400" dirty="0">
                <a:latin typeface="Times New Roman" panose="02020603050405020304" pitchFamily="18" charset="0"/>
              </a:rPr>
              <a:t>4. </a:t>
            </a:r>
            <a:r>
              <a:rPr sz="2400" dirty="0" err="1">
                <a:latin typeface="Times New Roman" panose="02020603050405020304" pitchFamily="18" charset="0"/>
              </a:rPr>
              <a:t>Trên</a:t>
            </a:r>
            <a:r>
              <a:rPr sz="2400" dirty="0">
                <a:latin typeface="Times New Roman" panose="02020603050405020304" pitchFamily="18" charset="0"/>
              </a:rPr>
              <a:t> Edge devices: Multi-thread + </a:t>
            </a:r>
            <a:r>
              <a:rPr sz="2400" dirty="0" err="1">
                <a:latin typeface="Times New Roman" panose="02020603050405020304" pitchFamily="18" charset="0"/>
              </a:rPr>
              <a:t>GStreamer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càng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quan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trọng</a:t>
            </a:r>
            <a:r>
              <a:rPr sz="2400" dirty="0">
                <a:latin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</a:rPr>
              <a:t>hơn</a:t>
            </a:r>
            <a:endParaRPr sz="2400" dirty="0"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• Inference </a:t>
            </a:r>
            <a:r>
              <a:rPr sz="1600" dirty="0" err="1">
                <a:latin typeface="Times New Roman" panose="02020603050405020304" pitchFamily="18" charset="0"/>
              </a:rPr>
              <a:t>chậm</a:t>
            </a:r>
            <a:r>
              <a:rPr sz="1600" dirty="0">
                <a:latin typeface="Times New Roman" panose="02020603050405020304" pitchFamily="18" charset="0"/>
              </a:rPr>
              <a:t> 3-10x → single-thread </a:t>
            </a:r>
            <a:r>
              <a:rPr sz="1600" dirty="0" err="1">
                <a:latin typeface="Times New Roman" panose="02020603050405020304" pitchFamily="18" charset="0"/>
              </a:rPr>
              <a:t>sẽ</a:t>
            </a:r>
            <a:r>
              <a:rPr sz="1600" dirty="0">
                <a:latin typeface="Times New Roman" panose="02020603050405020304" pitchFamily="18" charset="0"/>
              </a:rPr>
              <a:t> drop </a:t>
            </a:r>
            <a:r>
              <a:rPr sz="1600" dirty="0" err="1">
                <a:latin typeface="Times New Roman" panose="02020603050405020304" pitchFamily="18" charset="0"/>
              </a:rPr>
              <a:t>rất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nhiều</a:t>
            </a:r>
            <a:r>
              <a:rPr sz="1600" dirty="0">
                <a:latin typeface="Times New Roman" panose="02020603050405020304" pitchFamily="18" charset="0"/>
              </a:rPr>
              <a:t> frame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rPr sz="1600" dirty="0">
                <a:latin typeface="Times New Roman" panose="02020603050405020304" pitchFamily="18" charset="0"/>
              </a:rPr>
              <a:t>   • </a:t>
            </a:r>
            <a:r>
              <a:rPr sz="1600" dirty="0" err="1">
                <a:latin typeface="Times New Roman" panose="02020603050405020304" pitchFamily="18" charset="0"/>
              </a:rPr>
              <a:t>Cần</a:t>
            </a:r>
            <a:r>
              <a:rPr sz="1600" dirty="0">
                <a:latin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</a:rPr>
              <a:t>thêm</a:t>
            </a:r>
            <a:r>
              <a:rPr sz="1600" dirty="0">
                <a:latin typeface="Times New Roman" panose="02020603050405020304" pitchFamily="18" charset="0"/>
              </a:rPr>
              <a:t>: </a:t>
            </a:r>
            <a:r>
              <a:rPr sz="1600" dirty="0" err="1">
                <a:latin typeface="Times New Roman" panose="02020603050405020304" pitchFamily="18" charset="0"/>
              </a:rPr>
              <a:t>TensorRT</a:t>
            </a:r>
            <a:r>
              <a:rPr sz="1600" dirty="0">
                <a:latin typeface="Times New Roman" panose="02020603050405020304" pitchFamily="18" charset="0"/>
              </a:rPr>
              <a:t>, FP16/INT8, </a:t>
            </a:r>
            <a:r>
              <a:rPr sz="1600" dirty="0" err="1">
                <a:latin typeface="Times New Roman" panose="02020603050405020304" pitchFamily="18" charset="0"/>
              </a:rPr>
              <a:t>giảm</a:t>
            </a:r>
            <a:r>
              <a:rPr sz="1600" dirty="0">
                <a:latin typeface="Times New Roman" panose="02020603050405020304" pitchFamily="18" charset="0"/>
              </a:rPr>
              <a:t> resolution, skip 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1153</Words>
  <Application>Microsoft Office PowerPoint</Application>
  <PresentationFormat>Widescreen</PresentationFormat>
  <Paragraphs>181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Minh Phucc</cp:lastModifiedBy>
  <cp:revision>3</cp:revision>
  <dcterms:created xsi:type="dcterms:W3CDTF">2013-01-27T09:14:16Z</dcterms:created>
  <dcterms:modified xsi:type="dcterms:W3CDTF">2026-05-26T08:46:34Z</dcterms:modified>
  <cp:category/>
</cp:coreProperties>
</file>