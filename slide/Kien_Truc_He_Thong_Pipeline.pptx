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A707-F73C-C7CA-0343-AC35A98D7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64037-B737-E7CA-F267-084D85599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6C212-77BA-98DF-5AA2-F2069AEC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A8613-0CC4-0CB6-D47C-00BB80735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FBAFE-39C9-7CD4-2017-B2BF732C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02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8D5A-3E9B-EA46-37D5-075A7D20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8464A-E1E2-2829-4513-B515B9E74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B07C3-82FF-6DA2-D35D-C8CC8A0D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3885D-31EB-0E86-98FA-DF620597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59DF3-488D-E980-1F89-39B49356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3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351C-84CC-FCB0-8B74-23456A4D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41090-0154-35DA-257E-83B33CEC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883B7-0ADA-08D9-BE59-C72D18C8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3EAFA-3142-21E9-FB85-2BC2F7A9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FBB23-A1D8-0A5F-5EA1-0FE9E094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656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0E13A-35D2-9CE1-2BF9-DD19BF79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1E22E-4080-764D-875B-9B027FD67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A722E-A90F-84AF-B972-87C76A85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2549F-3DD3-1193-65DA-B8F9164B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7CCB2-6371-50C2-006C-C332AAF6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AEE69-BC28-04BD-AE67-04AE965F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39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8AC2-C6B1-FA4C-324B-B737DF4D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9BB2F-52A4-6EE7-FC35-3EE41FD0A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1DB1E-1B27-A3E2-0F92-69BCBB4BD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577EB-7E60-85FA-3194-341DFA8FC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74B87-C0AC-4A31-95DB-44989D813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55F6B-BFEC-FDAD-98E8-C8BDD3F3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D0708-3D5C-C977-A064-A45A8CE1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90619-4066-C4ED-EAB8-563DC332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2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1514-DCDC-9ACE-9A69-9C742842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6EE3C-5D5C-5AD8-47EE-BAC4B6052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E9723-3581-9081-9929-B412A5D2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38E3E-6C98-08A9-7A92-F93D2504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79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F4E8D-C967-9653-A7C4-AE6A89266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27296-F4D6-2A77-F09F-18F1638A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5D14E-DC17-47C6-7E46-3CDE19FC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5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B5D8-F57D-56D5-8301-DB2AEF350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132DC-5E78-09E3-9688-4BA39571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429CF-E2AF-5920-ACEE-55C07BC03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5F29E-E470-4CDF-6C7F-D343E3E72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7AC28-4775-1388-0B53-9C333DC4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4741-A6BA-C9F1-47DC-57293AC8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12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1783-161D-F959-18E4-8F9E7F8F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5E69D-795E-9D9B-CF03-E94BA12CB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6BEE4-FBD7-EBB1-2F5B-059E1EC02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E7808-C894-77DE-1687-F00AB16F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6FEFA-88DC-A905-1395-FDACDD6EE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CA1C3-A943-6711-4816-C822CB6A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530-AA38-E11A-AB19-DD5A7ECC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48E52-949C-60A0-B8B4-FB7CD7842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E116D-AE89-E5F5-BC27-43526CC05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8AB48-A0B9-08A1-B087-D059B329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70F7E-3E3E-2D32-3996-29FDD78A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1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DB91A-A141-61FA-122E-7B4DA9944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27FEF-FFC3-BAC9-2241-DB6CA92FB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4A2EF-E17C-AE73-6CE6-1E679BF08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12763-8F15-2B26-021C-544C5079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1D7EA-24CC-FEE0-386E-22EFDCCA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60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13E4F-F140-AD3A-93DF-20F3BDDF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4A22A-4C67-6D42-B582-A0C4A8229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58A4E-E523-AA29-34AC-069770D04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C9014-BC74-6940-801E-6746C0768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50D5C-52C2-B779-0A65-C1B511ED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71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0089" y="2286000"/>
            <a:ext cx="724134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Kiến</a:t>
            </a:r>
            <a:r>
              <a:rPr dirty="0">
                <a:latin typeface="Times New Roman" panose="02020603050405020304" pitchFamily="18" charset="0"/>
              </a:rPr>
              <a:t> Trúc </a:t>
            </a:r>
            <a:r>
              <a:rPr dirty="0" err="1">
                <a:latin typeface="Times New Roman" panose="02020603050405020304" pitchFamily="18" charset="0"/>
              </a:rPr>
              <a:t>Hệ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Thống</a:t>
            </a:r>
            <a:r>
              <a:rPr dirty="0">
                <a:latin typeface="Times New Roman" panose="02020603050405020304" pitchFamily="18" charset="0"/>
              </a:rPr>
              <a:t> Pipeline</a:t>
            </a:r>
          </a:p>
          <a:p>
            <a:pPr algn="ctr">
              <a:defRPr sz="2200">
                <a:solidFill>
                  <a:srgbClr val="495057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Phân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tích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xử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lý</a:t>
            </a:r>
            <a:r>
              <a:rPr dirty="0">
                <a:latin typeface="Times New Roman" panose="02020603050405020304" pitchFamily="18" charset="0"/>
              </a:rPr>
              <a:t>: OpenCV vs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0742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1. Pipeline: OpenCV (Single-Thread </a:t>
            </a:r>
            <a:r>
              <a:rPr dirty="0" err="1">
                <a:latin typeface="Times New Roman" panose="02020603050405020304" pitchFamily="18" charset="0"/>
              </a:rPr>
              <a:t>tuần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tự</a:t>
            </a:r>
            <a:r>
              <a:rPr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7893" y="1371600"/>
            <a:ext cx="11506427" cy="1463040"/>
          </a:xfrm>
          <a:prstGeom prst="rect">
            <a:avLst/>
          </a:prstGeom>
          <a:solidFill>
            <a:srgbClr val="E9ECE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t"/>
          <a:lstStyle/>
          <a:p>
            <a:pPr algn="l">
              <a:defRPr sz="16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Chính</a:t>
            </a:r>
            <a:r>
              <a:rPr dirty="0">
                <a:latin typeface="Times New Roman" panose="02020603050405020304" pitchFamily="18" charset="0"/>
              </a:rPr>
              <a:t> (Main Thread)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solidFill>
            <a:srgbClr val="E2D9F3"/>
          </a:solidFill>
          <a:ln w="19050">
            <a:solidFill>
              <a:srgbClr val="C5B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1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</a:rPr>
              <a:t>Nguồn</a:t>
            </a:r>
            <a:r>
              <a:rPr dirty="0">
                <a:latin typeface="Times New Roman" panose="02020603050405020304" pitchFamily="18" charset="0"/>
              </a:rPr>
              <a:t> Video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2011680"/>
            <a:ext cx="731520" cy="182880"/>
          </a:xfrm>
          <a:prstGeom prst="right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91840" y="1737360"/>
            <a:ext cx="1828800" cy="731520"/>
          </a:xfrm>
          <a:prstGeom prst="rect">
            <a:avLst/>
          </a:prstGeom>
          <a:solidFill>
            <a:srgbClr val="CCE5FF"/>
          </a:solidFill>
          <a:ln w="19050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2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cv2.read()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20640" y="2011680"/>
            <a:ext cx="731520" cy="182880"/>
          </a:xfrm>
          <a:prstGeom prst="right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1737360"/>
            <a:ext cx="2286000" cy="731520"/>
          </a:xfrm>
          <a:prstGeom prst="rect">
            <a:avLst/>
          </a:prstGeom>
          <a:solidFill>
            <a:srgbClr val="FFEBCC"/>
          </a:solidFill>
          <a:ln w="19050">
            <a:solidFill>
              <a:srgbClr val="FF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3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Trí </a:t>
            </a:r>
            <a:r>
              <a:rPr dirty="0" err="1">
                <a:latin typeface="Times New Roman" panose="02020603050405020304" pitchFamily="18" charset="0"/>
              </a:rPr>
              <a:t>Tuệ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Nhân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Tạo</a:t>
            </a:r>
            <a:r>
              <a:rPr dirty="0">
                <a:latin typeface="Times New Roman" panose="02020603050405020304" pitchFamily="18" charset="0"/>
              </a:rPr>
              <a:t> (AI)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38160" y="2011680"/>
            <a:ext cx="731520" cy="182880"/>
          </a:xfrm>
          <a:prstGeom prst="right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69680" y="1737360"/>
            <a:ext cx="1828800" cy="731520"/>
          </a:xfrm>
          <a:prstGeom prst="rect">
            <a:avLst/>
          </a:prstGeom>
          <a:solidFill>
            <a:srgbClr val="D4EDDA"/>
          </a:solidFill>
          <a:ln w="19050">
            <a:solidFill>
              <a:srgbClr val="9BE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4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Hiển </a:t>
            </a:r>
            <a:r>
              <a:rPr dirty="0" err="1">
                <a:latin typeface="Times New Roman" panose="02020603050405020304" pitchFamily="18" charset="0"/>
              </a:rPr>
              <a:t>thị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415" y="3200400"/>
            <a:ext cx="11642905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2529"/>
                </a:solidFill>
              </a:defRPr>
            </a:pPr>
            <a:r>
              <a:rPr lang="en-US" dirty="0" err="1">
                <a:latin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1 (</a:t>
            </a:r>
            <a:r>
              <a:rPr dirty="0" err="1">
                <a:latin typeface="Times New Roman" panose="02020603050405020304" pitchFamily="18" charset="0"/>
              </a:rPr>
              <a:t>Nguồn</a:t>
            </a:r>
            <a:r>
              <a:rPr dirty="0">
                <a:latin typeface="Times New Roman" panose="02020603050405020304" pitchFamily="18" charset="0"/>
              </a:rPr>
              <a:t> Video): </a:t>
            </a:r>
            <a:r>
              <a:rPr dirty="0" err="1">
                <a:latin typeface="Times New Roman" panose="02020603050405020304" pitchFamily="18" charset="0"/>
              </a:rPr>
              <a:t>Đọc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từ</a:t>
            </a:r>
            <a:r>
              <a:rPr dirty="0">
                <a:latin typeface="Times New Roman" panose="02020603050405020304" pitchFamily="18" charset="0"/>
              </a:rPr>
              <a:t> Video MP4 </a:t>
            </a:r>
            <a:r>
              <a:rPr dirty="0" err="1">
                <a:latin typeface="Times New Roman" panose="02020603050405020304" pitchFamily="18" charset="0"/>
              </a:rPr>
              <a:t>hoặc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Camera / Webcam.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2 (Decode): </a:t>
            </a:r>
            <a:r>
              <a:rPr dirty="0" err="1">
                <a:latin typeface="Times New Roman" panose="02020603050405020304" pitchFamily="18" charset="0"/>
              </a:rPr>
              <a:t>Dùng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lệnh</a:t>
            </a:r>
            <a:r>
              <a:rPr dirty="0">
                <a:latin typeface="Times New Roman" panose="02020603050405020304" pitchFamily="18" charset="0"/>
              </a:rPr>
              <a:t> cv2.read() </a:t>
            </a:r>
            <a:r>
              <a:rPr dirty="0" err="1">
                <a:latin typeface="Times New Roman" panose="02020603050405020304" pitchFamily="18" charset="0"/>
              </a:rPr>
              <a:t>để</a:t>
            </a:r>
            <a:r>
              <a:rPr dirty="0">
                <a:latin typeface="Times New Roman" panose="02020603050405020304" pitchFamily="18" charset="0"/>
              </a:rPr>
              <a:t> CPU </a:t>
            </a:r>
            <a:r>
              <a:rPr dirty="0" err="1">
                <a:latin typeface="Times New Roman" panose="02020603050405020304" pitchFamily="18" charset="0"/>
              </a:rPr>
              <a:t>đọc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giải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mã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tuần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tự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từng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khung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3 (AI): </a:t>
            </a:r>
            <a:r>
              <a:rPr dirty="0" err="1">
                <a:latin typeface="Times New Roman" panose="02020603050405020304" pitchFamily="18" charset="0"/>
              </a:rPr>
              <a:t>Tiền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xử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lý</a:t>
            </a:r>
            <a:r>
              <a:rPr dirty="0">
                <a:latin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</a:rPr>
              <a:t>preprocess</a:t>
            </a:r>
            <a:r>
              <a:rPr dirty="0">
                <a:latin typeface="Times New Roman" panose="02020603050405020304" pitchFamily="18" charset="0"/>
              </a:rPr>
              <a:t>), </a:t>
            </a:r>
            <a:r>
              <a:rPr dirty="0" err="1">
                <a:latin typeface="Times New Roman" panose="02020603050405020304" pitchFamily="18" charset="0"/>
              </a:rPr>
              <a:t>đưa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vào</a:t>
            </a:r>
            <a:r>
              <a:rPr dirty="0">
                <a:latin typeface="Times New Roman" panose="02020603050405020304" pitchFamily="18" charset="0"/>
              </a:rPr>
              <a:t> Model YOLO ONNX </a:t>
            </a:r>
            <a:r>
              <a:rPr dirty="0" err="1">
                <a:latin typeface="Times New Roman" panose="02020603050405020304" pitchFamily="18" charset="0"/>
              </a:rPr>
              <a:t>nhận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diện</a:t>
            </a:r>
            <a:r>
              <a:rPr dirty="0">
                <a:latin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</a:rPr>
              <a:t>sau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đó</a:t>
            </a:r>
            <a:r>
              <a:rPr dirty="0">
                <a:latin typeface="Times New Roman" panose="02020603050405020304" pitchFamily="18" charset="0"/>
              </a:rPr>
              <a:t> Hậu </a:t>
            </a:r>
            <a:r>
              <a:rPr dirty="0" err="1">
                <a:latin typeface="Times New Roman" panose="02020603050405020304" pitchFamily="18" charset="0"/>
              </a:rPr>
              <a:t>xử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</a:rPr>
              <a:t> (postprocess)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lọc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khung</a:t>
            </a:r>
            <a:r>
              <a:rPr dirty="0">
                <a:latin typeface="Times New Roman" panose="02020603050405020304" pitchFamily="18" charset="0"/>
              </a:rPr>
              <a:t> (NMS).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4 (Hiển </a:t>
            </a:r>
            <a:r>
              <a:rPr dirty="0" err="1">
                <a:latin typeface="Times New Roman" panose="02020603050405020304" pitchFamily="18" charset="0"/>
              </a:rPr>
              <a:t>thị</a:t>
            </a:r>
            <a:r>
              <a:rPr dirty="0">
                <a:latin typeface="Times New Roman" panose="02020603050405020304" pitchFamily="18" charset="0"/>
              </a:rPr>
              <a:t>): </a:t>
            </a:r>
            <a:r>
              <a:rPr dirty="0" err="1">
                <a:latin typeface="Times New Roman" panose="02020603050405020304" pitchFamily="18" charset="0"/>
              </a:rPr>
              <a:t>Vẽ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khung</a:t>
            </a:r>
            <a:r>
              <a:rPr dirty="0">
                <a:latin typeface="Times New Roman" panose="02020603050405020304" pitchFamily="18" charset="0"/>
              </a:rPr>
              <a:t> Bounding Box </a:t>
            </a:r>
            <a:r>
              <a:rPr dirty="0" err="1">
                <a:latin typeface="Times New Roman" panose="02020603050405020304" pitchFamily="18" charset="0"/>
              </a:rPr>
              <a:t>lên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ảnh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gọi</a:t>
            </a:r>
            <a:r>
              <a:rPr dirty="0">
                <a:latin typeface="Times New Roman" panose="02020603050405020304" pitchFamily="18" charset="0"/>
              </a:rPr>
              <a:t> cv2.imshow() </a:t>
            </a:r>
            <a:r>
              <a:rPr dirty="0" err="1">
                <a:latin typeface="Times New Roman" panose="02020603050405020304" pitchFamily="18" charset="0"/>
              </a:rPr>
              <a:t>để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xuất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ra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màn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1400"/>
              </a:spcBef>
              <a:defRPr sz="1600" b="1">
                <a:solidFill>
                  <a:srgbClr val="212529"/>
                </a:solidFill>
              </a:defRPr>
            </a:pPr>
            <a:r>
              <a:rPr lang="en-US" dirty="0" err="1">
                <a:latin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xét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Chạy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tuần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tự</a:t>
            </a:r>
            <a:r>
              <a:rPr dirty="0">
                <a:latin typeface="Times New Roman" panose="02020603050405020304" pitchFamily="18" charset="0"/>
              </a:rPr>
              <a:t> 100%. </a:t>
            </a:r>
            <a:r>
              <a:rPr dirty="0" err="1">
                <a:latin typeface="Times New Roman" panose="02020603050405020304" pitchFamily="18" charset="0"/>
              </a:rPr>
              <a:t>Nếu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khâu</a:t>
            </a:r>
            <a:r>
              <a:rPr dirty="0">
                <a:latin typeface="Times New Roman" panose="02020603050405020304" pitchFamily="18" charset="0"/>
              </a:rPr>
              <a:t> AI </a:t>
            </a:r>
            <a:r>
              <a:rPr dirty="0" err="1">
                <a:latin typeface="Times New Roman" panose="02020603050405020304" pitchFamily="18" charset="0"/>
              </a:rPr>
              <a:t>mất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quá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lâu</a:t>
            </a:r>
            <a:r>
              <a:rPr dirty="0">
                <a:latin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</a:rPr>
              <a:t>ví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dụ</a:t>
            </a:r>
            <a:r>
              <a:rPr dirty="0">
                <a:latin typeface="Times New Roman" panose="02020603050405020304" pitchFamily="18" charset="0"/>
              </a:rPr>
              <a:t> 50ms), </a:t>
            </a:r>
            <a:r>
              <a:rPr dirty="0" err="1">
                <a:latin typeface="Times New Roman" panose="02020603050405020304" pitchFamily="18" charset="0"/>
              </a:rPr>
              <a:t>toàn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bộ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hệ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thống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phải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đứng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chờ</a:t>
            </a:r>
            <a:r>
              <a:rPr dirty="0">
                <a:latin typeface="Times New Roman" panose="02020603050405020304" pitchFamily="18" charset="0"/>
              </a:rPr>
              <a:t> 50ms. </a:t>
            </a:r>
            <a:r>
              <a:rPr dirty="0" err="1">
                <a:latin typeface="Times New Roman" panose="02020603050405020304" pitchFamily="18" charset="0"/>
              </a:rPr>
              <a:t>Gây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ra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hiện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tượng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sụt</a:t>
            </a:r>
            <a:r>
              <a:rPr dirty="0">
                <a:latin typeface="Times New Roman" panose="02020603050405020304" pitchFamily="18" charset="0"/>
              </a:rPr>
              <a:t> FPS (</a:t>
            </a:r>
            <a:r>
              <a:rPr dirty="0" err="1">
                <a:latin typeface="Times New Roman" panose="02020603050405020304" pitchFamily="18" charset="0"/>
              </a:rPr>
              <a:t>giật</a:t>
            </a:r>
            <a:r>
              <a:rPr dirty="0">
                <a:latin typeface="Times New Roman" panose="02020603050405020304" pitchFamily="18" charset="0"/>
              </a:rPr>
              <a:t> lag) </a:t>
            </a:r>
            <a:r>
              <a:rPr dirty="0" err="1">
                <a:latin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không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tối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ưu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phần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cứng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62279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2. Pipeline: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(Single-Thread)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188" y="1097280"/>
            <a:ext cx="11479132" cy="1280160"/>
          </a:xfrm>
          <a:prstGeom prst="rect">
            <a:avLst/>
          </a:prstGeom>
          <a:solidFill>
            <a:srgbClr val="E9ECE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t"/>
          <a:lstStyle/>
          <a:p>
            <a:pPr algn="l">
              <a:defRPr sz="16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chạy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ngầm</a:t>
            </a:r>
            <a:r>
              <a:rPr dirty="0">
                <a:latin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Background Thread)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743200" cy="731520"/>
          </a:xfrm>
          <a:prstGeom prst="rect">
            <a:avLst/>
          </a:prstGeom>
          <a:solidFill>
            <a:srgbClr val="E2D9F3"/>
          </a:solidFill>
          <a:ln w="19050">
            <a:solidFill>
              <a:srgbClr val="C5B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1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Decode Pipeline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74720" y="1737360"/>
            <a:ext cx="914400" cy="182880"/>
          </a:xfrm>
          <a:prstGeom prst="right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89120" y="1463040"/>
            <a:ext cx="2286000" cy="731520"/>
          </a:xfrm>
          <a:prstGeom prst="rect">
            <a:avLst/>
          </a:prstGeom>
          <a:solidFill>
            <a:srgbClr val="CCE5FF"/>
          </a:solidFill>
          <a:ln w="19050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2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</a:rPr>
              <a:t>AppSink</a:t>
            </a:r>
            <a:r>
              <a:rPr dirty="0">
                <a:latin typeface="Times New Roman" panose="02020603050405020304" pitchFamily="18" charset="0"/>
              </a:rPr>
              <a:t> Queue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394960" y="2194560"/>
            <a:ext cx="274320" cy="457200"/>
          </a:xfrm>
          <a:prstGeom prst="down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5188" y="2651760"/>
            <a:ext cx="11479132" cy="1280160"/>
          </a:xfrm>
          <a:prstGeom prst="rect">
            <a:avLst/>
          </a:prstGeom>
          <a:solidFill>
            <a:srgbClr val="E9ECE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t"/>
          <a:lstStyle/>
          <a:p>
            <a:pPr algn="l">
              <a:defRPr sz="16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Chính</a:t>
            </a:r>
            <a:r>
              <a:rPr dirty="0">
                <a:latin typeface="Times New Roman" panose="02020603050405020304" pitchFamily="18" charset="0"/>
              </a:rPr>
              <a:t> (Main Thread)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017520"/>
            <a:ext cx="2286000" cy="731520"/>
          </a:xfrm>
          <a:prstGeom prst="rect">
            <a:avLst/>
          </a:prstGeom>
          <a:solidFill>
            <a:srgbClr val="FFEBCC"/>
          </a:solidFill>
          <a:ln w="19050">
            <a:solidFill>
              <a:srgbClr val="FF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3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Trí </a:t>
            </a:r>
            <a:r>
              <a:rPr dirty="0" err="1">
                <a:latin typeface="Times New Roman" panose="02020603050405020304" pitchFamily="18" charset="0"/>
              </a:rPr>
              <a:t>Tuệ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Nhân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Tạo</a:t>
            </a:r>
            <a:r>
              <a:rPr dirty="0">
                <a:latin typeface="Times New Roman" panose="02020603050405020304" pitchFamily="18" charset="0"/>
              </a:rPr>
              <a:t> (AI)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75120" y="3291840"/>
            <a:ext cx="822960" cy="182880"/>
          </a:xfrm>
          <a:prstGeom prst="right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98079" y="3017520"/>
            <a:ext cx="2286000" cy="731520"/>
          </a:xfrm>
          <a:prstGeom prst="rect">
            <a:avLst/>
          </a:prstGeom>
          <a:solidFill>
            <a:srgbClr val="D4EDDA"/>
          </a:solidFill>
          <a:ln w="19050">
            <a:solidFill>
              <a:srgbClr val="9BE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4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Hiển </a:t>
            </a:r>
            <a:r>
              <a:rPr dirty="0" err="1">
                <a:latin typeface="Times New Roman" panose="02020603050405020304" pitchFamily="18" charset="0"/>
              </a:rPr>
              <a:t>thị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3301" y="4206240"/>
            <a:ext cx="115610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2529"/>
                </a:solidFill>
              </a:defRPr>
            </a:pPr>
            <a:r>
              <a:rPr lang="en-US" dirty="0" err="1">
                <a:latin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1 (Decode Pipeline):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tự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động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giải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mã</a:t>
            </a:r>
            <a:r>
              <a:rPr dirty="0">
                <a:latin typeface="Times New Roman" panose="02020603050405020304" pitchFamily="18" charset="0"/>
              </a:rPr>
              <a:t> Video </a:t>
            </a:r>
            <a:r>
              <a:rPr dirty="0" err="1">
                <a:latin typeface="Times New Roman" panose="02020603050405020304" pitchFamily="18" charset="0"/>
              </a:rPr>
              <a:t>ngầm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liên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tục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độc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lập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với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chính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2 (</a:t>
            </a:r>
            <a:r>
              <a:rPr dirty="0" err="1">
                <a:latin typeface="Times New Roman" panose="02020603050405020304" pitchFamily="18" charset="0"/>
              </a:rPr>
              <a:t>AppSink</a:t>
            </a:r>
            <a:r>
              <a:rPr dirty="0">
                <a:latin typeface="Times New Roman" panose="02020603050405020304" pitchFamily="18" charset="0"/>
              </a:rPr>
              <a:t> Queue): </a:t>
            </a:r>
            <a:r>
              <a:rPr dirty="0" err="1">
                <a:latin typeface="Times New Roman" panose="02020603050405020304" pitchFamily="18" charset="0"/>
              </a:rPr>
              <a:t>Hàng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đợi</a:t>
            </a:r>
            <a:r>
              <a:rPr dirty="0">
                <a:latin typeface="Times New Roman" panose="02020603050405020304" pitchFamily="18" charset="0"/>
              </a:rPr>
              <a:t> (Buffer) </a:t>
            </a:r>
            <a:r>
              <a:rPr dirty="0" err="1">
                <a:latin typeface="Times New Roman" panose="02020603050405020304" pitchFamily="18" charset="0"/>
              </a:rPr>
              <a:t>cấu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để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lưu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sẵn</a:t>
            </a:r>
            <a:r>
              <a:rPr dirty="0">
                <a:latin typeface="Times New Roman" panose="02020603050405020304" pitchFamily="18" charset="0"/>
              </a:rPr>
              <a:t> 5 </a:t>
            </a:r>
            <a:r>
              <a:rPr dirty="0" err="1">
                <a:latin typeface="Times New Roman" panose="02020603050405020304" pitchFamily="18" charset="0"/>
              </a:rPr>
              <a:t>khung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mới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nhất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3 (AI): Main Thread </a:t>
            </a:r>
            <a:r>
              <a:rPr dirty="0" err="1">
                <a:latin typeface="Times New Roman" panose="02020603050405020304" pitchFamily="18" charset="0"/>
              </a:rPr>
              <a:t>sẽ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rút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khung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từ</a:t>
            </a:r>
            <a:r>
              <a:rPr dirty="0">
                <a:latin typeface="Times New Roman" panose="02020603050405020304" pitchFamily="18" charset="0"/>
              </a:rPr>
              <a:t> Queue </a:t>
            </a:r>
            <a:r>
              <a:rPr dirty="0" err="1">
                <a:latin typeface="Times New Roman" panose="02020603050405020304" pitchFamily="18" charset="0"/>
              </a:rPr>
              <a:t>ra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đẩy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vào</a:t>
            </a:r>
            <a:r>
              <a:rPr dirty="0">
                <a:latin typeface="Times New Roman" panose="02020603050405020304" pitchFamily="18" charset="0"/>
              </a:rPr>
              <a:t> Model AI </a:t>
            </a:r>
            <a:r>
              <a:rPr dirty="0" err="1">
                <a:latin typeface="Times New Roman" panose="02020603050405020304" pitchFamily="18" charset="0"/>
              </a:rPr>
              <a:t>để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nhận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diện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4 (Hiển </a:t>
            </a:r>
            <a:r>
              <a:rPr dirty="0" err="1">
                <a:latin typeface="Times New Roman" panose="02020603050405020304" pitchFamily="18" charset="0"/>
              </a:rPr>
              <a:t>thị</a:t>
            </a:r>
            <a:r>
              <a:rPr dirty="0">
                <a:latin typeface="Times New Roman" panose="02020603050405020304" pitchFamily="18" charset="0"/>
              </a:rPr>
              <a:t>): </a:t>
            </a:r>
            <a:r>
              <a:rPr dirty="0" err="1">
                <a:latin typeface="Times New Roman" panose="02020603050405020304" pitchFamily="18" charset="0"/>
              </a:rPr>
              <a:t>Xuất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kết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quả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đã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vẽ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khung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ra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màn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1400"/>
              </a:spcBef>
              <a:defRPr sz="1600" b="1">
                <a:solidFill>
                  <a:srgbClr val="212529"/>
                </a:solidFill>
              </a:defRPr>
            </a:pPr>
            <a:r>
              <a:rPr lang="en-US" dirty="0" err="1">
                <a:latin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xét</a:t>
            </a:r>
            <a:r>
              <a:rPr dirty="0">
                <a:latin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</a:rPr>
              <a:t>Việc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giải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mã</a:t>
            </a:r>
            <a:r>
              <a:rPr dirty="0">
                <a:latin typeface="Times New Roman" panose="02020603050405020304" pitchFamily="18" charset="0"/>
              </a:rPr>
              <a:t> video </a:t>
            </a:r>
            <a:r>
              <a:rPr dirty="0" err="1">
                <a:latin typeface="Times New Roman" panose="02020603050405020304" pitchFamily="18" charset="0"/>
              </a:rPr>
              <a:t>cực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nhanh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vì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chạy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ngầm</a:t>
            </a:r>
            <a:r>
              <a:rPr dirty="0">
                <a:latin typeface="Times New Roman" panose="02020603050405020304" pitchFamily="18" charset="0"/>
              </a:rPr>
              <a:t>. Tuy </a:t>
            </a:r>
            <a:r>
              <a:rPr dirty="0" err="1">
                <a:latin typeface="Times New Roman" panose="02020603050405020304" pitchFamily="18" charset="0"/>
              </a:rPr>
              <a:t>nhiên</a:t>
            </a:r>
            <a:r>
              <a:rPr dirty="0">
                <a:latin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chính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vẫn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phải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gánh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cả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tính</a:t>
            </a:r>
            <a:r>
              <a:rPr dirty="0">
                <a:latin typeface="Times New Roman" panose="02020603050405020304" pitchFamily="18" charset="0"/>
              </a:rPr>
              <a:t> AI </a:t>
            </a:r>
            <a:r>
              <a:rPr dirty="0" err="1">
                <a:latin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Xuất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</a:rPr>
              <a:t>Nên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nếu</a:t>
            </a:r>
            <a:r>
              <a:rPr dirty="0">
                <a:latin typeface="Times New Roman" panose="02020603050405020304" pitchFamily="18" charset="0"/>
              </a:rPr>
              <a:t> AI </a:t>
            </a:r>
            <a:r>
              <a:rPr dirty="0" err="1">
                <a:latin typeface="Times New Roman" panose="02020603050405020304" pitchFamily="18" charset="0"/>
              </a:rPr>
              <a:t>xử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lý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chậm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thì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chính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vẫn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bị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treo</a:t>
            </a:r>
            <a:r>
              <a:rPr dirty="0">
                <a:latin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</a:rPr>
              <a:t>gây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khựng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6128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3. Pipeline: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(Multi-Thread)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6780" y="894610"/>
            <a:ext cx="11492780" cy="1208509"/>
          </a:xfrm>
          <a:prstGeom prst="rect">
            <a:avLst/>
          </a:prstGeom>
          <a:solidFill>
            <a:srgbClr val="E9ECE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t"/>
          <a:lstStyle/>
          <a:p>
            <a:pPr algn="l">
              <a:defRPr sz="1600" b="1">
                <a:solidFill>
                  <a:srgbClr val="21252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1.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ngầm</a:t>
            </a:r>
            <a:r>
              <a:rPr dirty="0">
                <a:latin typeface="Times New Roman" panose="02020603050405020304" pitchFamily="18" charset="0"/>
              </a:rPr>
              <a:t>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640080"/>
          </a:xfrm>
          <a:prstGeom prst="rect">
            <a:avLst/>
          </a:prstGeom>
          <a:solidFill>
            <a:srgbClr val="E2D9F3"/>
          </a:solidFill>
          <a:ln w="19050">
            <a:solidFill>
              <a:srgbClr val="C5B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1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Decode Pipeline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74720" y="1508760"/>
            <a:ext cx="914400" cy="182880"/>
          </a:xfrm>
          <a:prstGeom prst="right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89120" y="1280160"/>
            <a:ext cx="2286000" cy="640080"/>
          </a:xfrm>
          <a:prstGeom prst="rect">
            <a:avLst/>
          </a:prstGeom>
          <a:solidFill>
            <a:srgbClr val="CCE5FF"/>
          </a:solidFill>
          <a:ln w="19050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2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Frame Queue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394960" y="1920240"/>
            <a:ext cx="182880" cy="365760"/>
          </a:xfrm>
          <a:prstGeom prst="down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1540" y="2240280"/>
            <a:ext cx="11492780" cy="1097280"/>
          </a:xfrm>
          <a:prstGeom prst="rect">
            <a:avLst/>
          </a:prstGeom>
          <a:solidFill>
            <a:srgbClr val="E9ECE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t"/>
          <a:lstStyle/>
          <a:p>
            <a:pPr algn="l">
              <a:defRPr sz="1600" b="1">
                <a:solidFill>
                  <a:srgbClr val="21252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2.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AI (Worker Thread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560320"/>
            <a:ext cx="2286000" cy="640080"/>
          </a:xfrm>
          <a:prstGeom prst="rect">
            <a:avLst/>
          </a:prstGeom>
          <a:solidFill>
            <a:srgbClr val="FFEBCC"/>
          </a:solidFill>
          <a:ln w="19050">
            <a:solidFill>
              <a:srgbClr val="FF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3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</a:rPr>
              <a:t>Nhận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diện</a:t>
            </a:r>
            <a:r>
              <a:rPr dirty="0">
                <a:latin typeface="Times New Roman" panose="02020603050405020304" pitchFamily="18" charset="0"/>
              </a:rPr>
              <a:t> (AI Model)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75120" y="2788920"/>
            <a:ext cx="822960" cy="182880"/>
          </a:xfrm>
          <a:prstGeom prst="right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98079" y="2560320"/>
            <a:ext cx="2286000" cy="640080"/>
          </a:xfrm>
          <a:prstGeom prst="rect">
            <a:avLst/>
          </a:prstGeom>
          <a:solidFill>
            <a:srgbClr val="CCE5FF"/>
          </a:solidFill>
          <a:ln w="19050">
            <a:solidFill>
              <a:srgbClr val="9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4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Result Queue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03920" y="3200400"/>
            <a:ext cx="182880" cy="365760"/>
          </a:xfrm>
          <a:prstGeom prst="downArrow">
            <a:avLst/>
          </a:prstGeom>
          <a:solidFill>
            <a:srgbClr val="ADB5BD"/>
          </a:solidFill>
          <a:ln w="127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1540" y="3566160"/>
            <a:ext cx="11492780" cy="1097280"/>
          </a:xfrm>
          <a:prstGeom prst="rect">
            <a:avLst/>
          </a:prstGeom>
          <a:solidFill>
            <a:srgbClr val="E9ECE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tlCol="0" anchor="t"/>
          <a:lstStyle/>
          <a:p>
            <a:pPr algn="l">
              <a:defRPr sz="1600" b="1">
                <a:solidFill>
                  <a:srgbClr val="21252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3.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Chính</a:t>
            </a:r>
            <a:r>
              <a:rPr dirty="0">
                <a:latin typeface="Times New Roman" panose="02020603050405020304" pitchFamily="18" charset="0"/>
              </a:rPr>
              <a:t> (Main Thread 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840480"/>
            <a:ext cx="2286000" cy="640080"/>
          </a:xfrm>
          <a:prstGeom prst="rect">
            <a:avLst/>
          </a:prstGeom>
          <a:solidFill>
            <a:srgbClr val="D4EDDA"/>
          </a:solidFill>
          <a:ln w="19050">
            <a:solidFill>
              <a:srgbClr val="9BE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5</a:t>
            </a:r>
            <a:br>
              <a:rPr dirty="0">
                <a:latin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</a:rPr>
              <a:t>Hiển </a:t>
            </a:r>
            <a:r>
              <a:rPr dirty="0" err="1">
                <a:latin typeface="Times New Roman" panose="02020603050405020304" pitchFamily="18" charset="0"/>
              </a:rPr>
              <a:t>thị</a:t>
            </a:r>
            <a:r>
              <a:rPr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" y="4754880"/>
            <a:ext cx="12110113" cy="202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2529"/>
                </a:solidFill>
              </a:defRPr>
            </a:pPr>
            <a:r>
              <a:rPr lang="en-US" dirty="0" err="1">
                <a:latin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1 &amp; 2: </a:t>
            </a:r>
            <a:r>
              <a:rPr dirty="0" err="1">
                <a:latin typeface="Times New Roman" panose="02020603050405020304" pitchFamily="18" charset="0"/>
              </a:rPr>
              <a:t>GStreamer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liên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tục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giải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mã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ảnh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bỏ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vào</a:t>
            </a:r>
            <a:r>
              <a:rPr dirty="0">
                <a:latin typeface="Times New Roman" panose="02020603050405020304" pitchFamily="18" charset="0"/>
              </a:rPr>
              <a:t> Frame Queue (</a:t>
            </a:r>
            <a:r>
              <a:rPr dirty="0" err="1">
                <a:latin typeface="Times New Roman" panose="02020603050405020304" pitchFamily="18" charset="0"/>
              </a:rPr>
              <a:t>Ảnh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thô</a:t>
            </a:r>
            <a:r>
              <a:rPr dirty="0">
                <a:latin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3: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Worker Thread </a:t>
            </a:r>
            <a:r>
              <a:rPr dirty="0" err="1">
                <a:latin typeface="Times New Roman" panose="02020603050405020304" pitchFamily="18" charset="0"/>
              </a:rPr>
              <a:t>chạy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vòng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lặp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vô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tận</a:t>
            </a:r>
            <a:r>
              <a:rPr dirty="0">
                <a:latin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</a:rPr>
              <a:t>rút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ảnh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từ</a:t>
            </a:r>
            <a:r>
              <a:rPr dirty="0">
                <a:latin typeface="Times New Roman" panose="02020603050405020304" pitchFamily="18" charset="0"/>
              </a:rPr>
              <a:t> Frame Queue </a:t>
            </a:r>
            <a:r>
              <a:rPr dirty="0" err="1">
                <a:latin typeface="Times New Roman" panose="02020603050405020304" pitchFamily="18" charset="0"/>
              </a:rPr>
              <a:t>đưa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vào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tính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toán</a:t>
            </a:r>
            <a:r>
              <a:rPr dirty="0">
                <a:latin typeface="Times New Roman" panose="02020603050405020304" pitchFamily="18" charset="0"/>
              </a:rPr>
              <a:t> AI.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4 (Result Queue): AI </a:t>
            </a:r>
            <a:r>
              <a:rPr dirty="0" err="1">
                <a:latin typeface="Times New Roman" panose="02020603050405020304" pitchFamily="18" charset="0"/>
              </a:rPr>
              <a:t>tính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xong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sẽ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quăng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ảnh</a:t>
            </a:r>
            <a:r>
              <a:rPr dirty="0">
                <a:latin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</a:rPr>
              <a:t>đã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vẽ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BBox</a:t>
            </a:r>
            <a:r>
              <a:rPr dirty="0">
                <a:latin typeface="Times New Roman" panose="02020603050405020304" pitchFamily="18" charset="0"/>
              </a:rPr>
              <a:t>) </a:t>
            </a:r>
            <a:r>
              <a:rPr dirty="0" err="1">
                <a:latin typeface="Times New Roman" panose="02020603050405020304" pitchFamily="18" charset="0"/>
              </a:rPr>
              <a:t>vào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hàng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đợi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kết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quả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này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defRPr sz="1500">
                <a:solidFill>
                  <a:srgbClr val="495057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</a:rPr>
              <a:t>Khối</a:t>
            </a:r>
            <a:r>
              <a:rPr dirty="0">
                <a:latin typeface="Times New Roman" panose="02020603050405020304" pitchFamily="18" charset="0"/>
              </a:rPr>
              <a:t> 5 (Hiển </a:t>
            </a:r>
            <a:r>
              <a:rPr dirty="0" err="1">
                <a:latin typeface="Times New Roman" panose="02020603050405020304" pitchFamily="18" charset="0"/>
              </a:rPr>
              <a:t>thị</a:t>
            </a:r>
            <a:r>
              <a:rPr dirty="0">
                <a:latin typeface="Times New Roman" panose="02020603050405020304" pitchFamily="18" charset="0"/>
              </a:rPr>
              <a:t>):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chính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tách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biệt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hoàn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toàn</a:t>
            </a:r>
            <a:r>
              <a:rPr dirty="0">
                <a:latin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</a:rPr>
              <a:t>chỉ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làm</a:t>
            </a:r>
            <a:r>
              <a:rPr dirty="0">
                <a:latin typeface="Times New Roman" panose="02020603050405020304" pitchFamily="18" charset="0"/>
              </a:rPr>
              <a:t> 1 </a:t>
            </a:r>
            <a:r>
              <a:rPr dirty="0" err="1">
                <a:latin typeface="Times New Roman" panose="02020603050405020304" pitchFamily="18" charset="0"/>
              </a:rPr>
              <a:t>việc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duy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nhất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là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lôi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ảnh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từ</a:t>
            </a:r>
            <a:r>
              <a:rPr dirty="0">
                <a:latin typeface="Times New Roman" panose="02020603050405020304" pitchFamily="18" charset="0"/>
              </a:rPr>
              <a:t> Result Queue </a:t>
            </a:r>
            <a:r>
              <a:rPr dirty="0" err="1">
                <a:latin typeface="Times New Roman" panose="02020603050405020304" pitchFamily="18" charset="0"/>
              </a:rPr>
              <a:t>ra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màn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1400"/>
              </a:spcBef>
              <a:defRPr sz="1600" b="1">
                <a:solidFill>
                  <a:srgbClr val="212529"/>
                </a:solidFill>
              </a:defRPr>
            </a:pPr>
            <a:r>
              <a:rPr lang="en-US" dirty="0" err="1">
                <a:latin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xét</a:t>
            </a:r>
            <a:r>
              <a:rPr lang="en-US" dirty="0">
                <a:latin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</a:rPr>
              <a:t>Tối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ưu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nhất</a:t>
            </a:r>
            <a:r>
              <a:rPr dirty="0">
                <a:latin typeface="Times New Roman" panose="02020603050405020304" pitchFamily="18" charset="0"/>
              </a:rPr>
              <a:t>: 3 </a:t>
            </a:r>
            <a:r>
              <a:rPr dirty="0" err="1">
                <a:latin typeface="Times New Roman" panose="02020603050405020304" pitchFamily="18" charset="0"/>
              </a:rPr>
              <a:t>tác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vụ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nặng</a:t>
            </a:r>
            <a:r>
              <a:rPr dirty="0">
                <a:latin typeface="Times New Roman" panose="02020603050405020304" pitchFamily="18" charset="0"/>
              </a:rPr>
              <a:t> (Decode, AI, </a:t>
            </a:r>
            <a:r>
              <a:rPr dirty="0" err="1">
                <a:latin typeface="Times New Roman" panose="02020603050405020304" pitchFamily="18" charset="0"/>
              </a:rPr>
              <a:t>Xuất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hình</a:t>
            </a:r>
            <a:r>
              <a:rPr dirty="0">
                <a:latin typeface="Times New Roman" panose="02020603050405020304" pitchFamily="18" charset="0"/>
              </a:rPr>
              <a:t>) chia </a:t>
            </a:r>
            <a:r>
              <a:rPr dirty="0" err="1">
                <a:latin typeface="Times New Roman" panose="02020603050405020304" pitchFamily="18" charset="0"/>
              </a:rPr>
              <a:t>cho</a:t>
            </a:r>
            <a:r>
              <a:rPr dirty="0">
                <a:latin typeface="Times New Roman" panose="02020603050405020304" pitchFamily="18" charset="0"/>
              </a:rPr>
              <a:t> 3 </a:t>
            </a:r>
            <a:r>
              <a:rPr dirty="0" err="1">
                <a:latin typeface="Times New Roman" panose="02020603050405020304" pitchFamily="18" charset="0"/>
              </a:rPr>
              <a:t>luồng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hoạt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động</a:t>
            </a:r>
            <a:r>
              <a:rPr dirty="0">
                <a:latin typeface="Times New Roman" panose="02020603050405020304" pitchFamily="18" charset="0"/>
              </a:rPr>
              <a:t> song </a:t>
            </a:r>
            <a:r>
              <a:rPr dirty="0" err="1">
                <a:latin typeface="Times New Roman" panose="02020603050405020304" pitchFamily="18" charset="0"/>
              </a:rPr>
              <a:t>song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độc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lập</a:t>
            </a:r>
            <a:r>
              <a:rPr dirty="0">
                <a:latin typeface="Times New Roman" panose="02020603050405020304" pitchFamily="18" charset="0"/>
              </a:rPr>
              <a:t>. Đạt </a:t>
            </a:r>
            <a:r>
              <a:rPr dirty="0" err="1">
                <a:latin typeface="Times New Roman" panose="02020603050405020304" pitchFamily="18" charset="0"/>
              </a:rPr>
              <a:t>tốc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độ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tối</a:t>
            </a:r>
            <a:r>
              <a:rPr dirty="0">
                <a:latin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</a:rPr>
              <a:t>đa</a:t>
            </a:r>
            <a:r>
              <a:rPr dirty="0">
                <a:latin typeface="Times New Roman" panose="02020603050405020304" pitchFamily="18" charset="0"/>
              </a:rPr>
              <a:t> (Real-time</a:t>
            </a:r>
            <a:r>
              <a:rPr lang="en-US" dirty="0">
                <a:latin typeface="Times New Roman" panose="02020603050405020304" pitchFamily="18" charset="0"/>
              </a:rPr>
              <a:t>)</a:t>
            </a:r>
            <a:r>
              <a:rPr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598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Minh Phucc</cp:lastModifiedBy>
  <cp:revision>3</cp:revision>
  <dcterms:created xsi:type="dcterms:W3CDTF">2013-01-27T09:14:16Z</dcterms:created>
  <dcterms:modified xsi:type="dcterms:W3CDTF">2026-05-27T08:56:17Z</dcterms:modified>
  <cp:category/>
</cp:coreProperties>
</file>