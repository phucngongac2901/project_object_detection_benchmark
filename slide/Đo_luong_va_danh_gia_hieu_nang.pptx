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0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Times New Roman"/>
              </a:defRPr>
            </a:pPr>
            <a:r>
              <a:t>BENCHMARK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Times New Roman"/>
              </a:defRPr>
            </a:pPr>
            <a:r>
              <a:t>So sánh hiệu suất: OpenCV vs GStreamer Single-Thread vs GStreamer Multi-Thread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Times New Roman"/>
              </a:defRPr>
            </a:pPr>
            <a:r>
              <a:t>Object Detection Pipeline — YOLOv8n ONNX + CUDA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Times New Roman"/>
              </a:defRPr>
            </a:pPr>
            <a:r>
              <a:t>Hardware: RTX 5070 | Video: 25 FPS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Times New Roman"/>
              </a:defRPr>
            </a:pPr>
            <a:r>
              <a:t>Pipeline Xử lý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Luồng xử lý mỗi frame: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Video → [Decode] → Raw Frame → [Preprocess] → [Inference] → [Postprocess] → Display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1. Decode: Giải mã video → ảnh BGR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OpenCV: cv2.read() đồng bộ — main thread chờ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GStreamer: Pipeline async + callback — không block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2. Preprocess: Resize 640×640 → Normalize [0,1] → CHW → Batch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3. Inference: ONNX Runtime + CUDA (GPU)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4. Postprocess: Parse output → NMS → Vẽ BBox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3 Phương pháp: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800" b="1">
                <a:solidFill>
                  <a:srgbClr val="45B7D1"/>
                </a:solidFill>
                <a:latin typeface="Times New Roman"/>
              </a:defRPr>
            </a:pPr>
            <a:r>
              <a:t>① OpenCV (Pure)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Decode + AI + Display trên cùng 1 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→ Tuần tự, không mất frame, nhưng chậm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800" b="1">
                <a:solidFill>
                  <a:srgbClr val="FF6B6B"/>
                </a:solidFill>
                <a:latin typeface="Times New Roman"/>
              </a:defRPr>
            </a:pPr>
            <a:r>
              <a:t>② GStreamer Single-Thread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Decode async (callback) + AI trên main 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→ Decode nhanh hơn, nhưng AI vẫn block display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800" b="1">
                <a:solidFill>
                  <a:srgbClr val="4ECDC4"/>
                </a:solidFill>
                <a:latin typeface="Times New Roman"/>
              </a:defRPr>
            </a:pPr>
            <a:r>
              <a:t>③ GStreamer Multi-Thread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Decode async + AI trên worker thread riêng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→ Decode và AI chạy song song, display mượt nhất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Times New Roman"/>
              </a:defRPr>
            </a:pPr>
            <a:r>
              <a:t>Dashboard Tổng hợp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430000" cy="56638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Times New Roman"/>
              </a:defRPr>
            </a:pPr>
            <a:r>
              <a:t>Phân bố Inference Time (KDE / Gaussian)</a:t>
            </a:r>
          </a:p>
        </p:txBody>
      </p:sp>
      <p:pic>
        <p:nvPicPr>
          <p:cNvPr id="3" name="Picture 2" descr="kde_all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315200" cy="36432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Phân tích: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KDE (Kernel Density Estimation) ước lượng hàm mật độ xác suất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4ECDC4"/>
                </a:solidFill>
                <a:latin typeface="Times New Roman"/>
              </a:defRPr>
            </a:pPr>
            <a:r>
              <a:t>• Đỉnh cao + hẹp = ổn định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GStreamer Multi có đỉnh cao nhất → inference ổn định nhất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  <a:latin typeface="Times New Roman"/>
              </a:defRPr>
            </a:pPr>
            <a:r>
              <a:t>• Đuôi dài bên phải = spike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OpenCV có đuôi dài hơn → nhiều spike inference bất thường do GPU bị tranh chấp với decode sync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GStreamer Multi tập trung quanh 11.6ms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OpenCV tập trung quanh 12.2ms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Times New Roman"/>
              </a:defRPr>
            </a:pPr>
            <a:r>
              <a:t>CDF — Đồ thị Tích lũy (Cumulative)</a:t>
            </a:r>
          </a:p>
        </p:txBody>
      </p:sp>
      <p:pic>
        <p:nvPicPr>
          <p:cNvPr id="3" name="Picture 2" descr="cdf_all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7315200" cy="36432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Cách đọc: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X = inference time (ms)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Y = % frame có inference ≤ X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4ECDC4"/>
                </a:solidFill>
                <a:latin typeface="Times New Roman"/>
              </a:defRPr>
            </a:pPr>
            <a:r>
              <a:t>• Đường lệch trái = nhanh hơn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• Tại P95 (95% frame):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GStreamer Multi: ~15.3ms</a:t>
            </a:r>
          </a:p>
          <a:p>
            <a:pPr>
              <a:spcBef>
                <a:spcPts val="400"/>
              </a:spcBef>
              <a:defRPr sz="1600" b="0">
                <a:solidFill>
                  <a:srgbClr val="FF6B6B"/>
                </a:solidFill>
                <a:latin typeface="Times New Roman"/>
              </a:defRPr>
            </a:pPr>
            <a:r>
              <a:t>  GStreamer Single: ~15.3ms</a:t>
            </a:r>
          </a:p>
          <a:p>
            <a:pPr>
              <a:spcBef>
                <a:spcPts val="400"/>
              </a:spcBef>
              <a:defRPr sz="1600" b="0">
                <a:solidFill>
                  <a:srgbClr val="45B7D1"/>
                </a:solidFill>
                <a:latin typeface="Times New Roman"/>
              </a:defRPr>
            </a:pPr>
            <a:r>
              <a:t>  OpenCV: ~16.0ms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→ GStreamer Multi ổn định nhất, ít spike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→ OpenCV có đuôi dài — 5% frame chậm gấp 2-3x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Times New Roman"/>
              </a:defRPr>
            </a:pPr>
            <a:r>
              <a:t>FPS theo Thời gian</a:t>
            </a:r>
          </a:p>
        </p:txBody>
      </p:sp>
      <p:pic>
        <p:nvPicPr>
          <p:cNvPr id="3" name="Picture 2" descr="fps_all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22960"/>
            <a:ext cx="8229600" cy="58297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9144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Nhận xét: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FFD93D"/>
                </a:solidFill>
                <a:latin typeface="Times New Roman"/>
              </a:defRPr>
            </a:pPr>
            <a:r>
              <a:t>• Đường vàng = Video source 25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• GStreamer và OpenCV đã sync chuẩn theo thời gian thực (25 FPS)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45B7D1"/>
                </a:solidFill>
                <a:latin typeface="Times New Roman"/>
              </a:defRPr>
            </a:pPr>
            <a:r>
              <a:t>• OpenCV bị sụt FPS nhẹ xuống ~21.9 FPS do sai lệch thời gian của hàm cv2.waitKey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Không có GPU throttling (FPS không giảm dần)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Times New Roman"/>
              </a:defRPr>
            </a:pPr>
            <a:r>
              <a:t>Timing Breakdown &amp; Percentile</a:t>
            </a:r>
          </a:p>
        </p:txBody>
      </p:sp>
      <p:pic>
        <p:nvPicPr>
          <p:cNvPr id="3" name="Picture 2" descr="timing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486400" cy="3284451"/>
          </a:xfrm>
          <a:prstGeom prst="rect">
            <a:avLst/>
          </a:prstGeom>
        </p:spPr>
      </p:pic>
      <p:pic>
        <p:nvPicPr>
          <p:cNvPr id="4" name="Picture 3" descr="percentile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914400"/>
            <a:ext cx="5943600" cy="35581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Inference chiếm ~80% thời gian pipeline (11.6ms) | Preprocess ~18% (2.7ms) | Postprocess ~2% (0.2ms) [đã tối ưu hóa NumPy]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P99 (worst-case): OpenCV đạt ~18.9ms | GStreamer Single ~18.6ms | GStreamer Multi ~18.4ms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Times New Roman"/>
              </a:defRPr>
            </a:pPr>
            <a:r>
              <a:t>Cơ chế Quản lý Buffer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5B7D1"/>
                </a:solidFill>
                <a:latin typeface="Times New Roman"/>
              </a:defRPr>
            </a:pPr>
            <a:r>
              <a:t>OpenCV — Không có buffer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cap.read() → process → display → cap.read() → ...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Tuần tự hoàn toàn, không queue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Mỗi frame phải chờ frame trước xử lý xong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• Ưu điểm: Không mất frame (3675/3675)</a:t>
            </a:r>
          </a:p>
          <a:p>
            <a:pPr>
              <a:spcBef>
                <a:spcPts val="400"/>
              </a:spcBef>
              <a:defRPr sz="1600" b="0">
                <a:solidFill>
                  <a:srgbClr val="FF6B6B"/>
                </a:solidFill>
                <a:latin typeface="Times New Roman"/>
              </a:defRPr>
            </a:pPr>
            <a:r>
              <a:t>• Nhược điểm: Chậm, FPS bị bottleneck bởi bước chậm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Times New Roman"/>
              </a:defRPr>
            </a:pPr>
            <a:r>
              <a:t>GStreamer — Queue-based Buffer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appsink: max-buffers=8, drop=true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frame_queue: maxsize=8, put_nowait()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Khi AI chậm hơn decode → queue đầy → DROP frame cũ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• Luôn xử lý frame MỚI NHẤT (real-time)</a:t>
            </a:r>
          </a:p>
          <a:p>
            <a:pPr>
              <a:spcBef>
                <a:spcPts val="400"/>
              </a:spcBef>
              <a:defRPr sz="1600" b="0">
                <a:solidFill>
                  <a:srgbClr val="FF6B6B"/>
                </a:solidFill>
                <a:latin typeface="Times New Roman"/>
              </a:defRPr>
            </a:pPr>
            <a:r>
              <a:t>• Single: xử lý 3669/3675 frame (mất 6 frame)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• Multi: xử lý 3669/3675 frame (mất 6 frame) — GPU quá nhanh nên hầu như không mất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Trade-off: Mất frame vs Real-time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→ Trong ứng dụng giám sát, real-time quan trọng hơn xử lý hết frame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Times New Roman"/>
              </a:defRPr>
            </a:pPr>
            <a:r>
              <a:t>Cơ chế Đa luồng (Multi-Threading)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Times New Roman"/>
              </a:defRPr>
            </a:pPr>
            <a:r>
              <a:t>Single-Thread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Main Thread: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while True: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pump GStreamer events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get frame from queue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preprocess (3.2ms)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inference (11.5ms)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postprocess (0.2ms)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display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  <a:latin typeface="Times New Roman"/>
              </a:defRPr>
            </a:pPr>
            <a:r>
              <a:t>→ AI block display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→ Display phải chờ inference xong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DC4"/>
                </a:solidFill>
                <a:latin typeface="Times New Roman"/>
              </a:defRPr>
            </a:pPr>
            <a:r>
              <a:t>Multi-Thread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AI Worker Thread: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while True: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get frame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preprocess → inference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→ postprocess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  put result to result_queue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Main Thread: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pump GStreamer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get result (non-blocking)</a:t>
            </a:r>
          </a:p>
          <a:p>
            <a:pPr>
              <a:spcBef>
                <a:spcPts val="400"/>
              </a:spcBef>
              <a:defRPr sz="1600" b="0">
                <a:solidFill>
                  <a:srgbClr val="00D2FF"/>
                </a:solidFill>
                <a:latin typeface="Times New Roman"/>
              </a:defRPr>
            </a:pPr>
            <a:r>
              <a:t>  display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4ECDC4"/>
                </a:solidFill>
                <a:latin typeface="Times New Roman"/>
              </a:defRPr>
            </a:pPr>
            <a:r>
              <a:t>→ AI và Display chạy song song!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Kết quả: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Display FPS (Đã đồng bộ):</a:t>
            </a:r>
          </a:p>
          <a:p>
            <a:pPr>
              <a:spcBef>
                <a:spcPts val="400"/>
              </a:spcBef>
              <a:defRPr sz="1600" b="0">
                <a:solidFill>
                  <a:srgbClr val="45B7D1"/>
                </a:solidFill>
                <a:latin typeface="Times New Roman"/>
              </a:defRPr>
            </a:pPr>
            <a:r>
              <a:t>  OpenCV: ~21.9 FPS (lỗi waitKey)</a:t>
            </a:r>
          </a:p>
          <a:p>
            <a:pPr>
              <a:spcBef>
                <a:spcPts val="400"/>
              </a:spcBef>
              <a:defRPr sz="1600" b="0">
                <a:solidFill>
                  <a:srgbClr val="FF6B6B"/>
                </a:solidFill>
                <a:latin typeface="Times New Roman"/>
              </a:defRPr>
            </a:pPr>
            <a:r>
              <a:t>  Single: ~25.1 FPS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Multi:  ~25.0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Khung hình bị mất:</a:t>
            </a:r>
          </a:p>
          <a:p>
            <a:pPr>
              <a:spcBef>
                <a:spcPts val="400"/>
              </a:spcBef>
              <a:defRPr sz="1600" b="0">
                <a:solidFill>
                  <a:srgbClr val="FF6B6B"/>
                </a:solidFill>
                <a:latin typeface="Times New Roman"/>
              </a:defRPr>
            </a:pPr>
            <a:r>
              <a:t>  Single: 6 frame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Multi:  6 frame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00D2FF"/>
                </a:solidFill>
                <a:latin typeface="Times New Roman"/>
              </a:defRPr>
            </a:pPr>
            <a:r>
              <a:t>→ Nhận xét: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GStreamer giữ ổn định 25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Tách luồng đảm bảo tính mượt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Times New Roman"/>
              </a:defRPr>
            </a:pPr>
            <a:r>
              <a:t>Đánh giá khi triển khai trên Edge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RTX 5070 (Desktop) → Edge Device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00D2FF"/>
                </a:solidFill>
                <a:latin typeface="Times New Roman"/>
              </a:defRPr>
            </a:pPr>
            <a:r>
              <a:t>Hiệu suất hiện tại (RTX 5070):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Inference: ~11.6ms (CUDA FP32)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AI FPS (Tối đa): ~72.4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Display FPS (Real-time): ~25.0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  <a:latin typeface="Times New Roman"/>
              </a:defRPr>
            </a:pPr>
            <a:r>
              <a:t>Dự đoán trên Edge (Jetson Orin Nano):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Inference: ~15-25ms (TensorRT FP16)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AI FPS: ~40-60 FPS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• YOLOv8n siêu nhẹ nên chạy rất tốt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  <a:latin typeface="Times New Roman"/>
              </a:defRPr>
            </a:pPr>
            <a:r>
              <a:t>Dự đoán trên Edge (Raspberry Pi 5 + Hailo):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Inference: ~25-45ms (NPU INT8)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AI FPS: ~20-40 FPS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0584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Times New Roman"/>
              </a:defRPr>
            </a:pPr>
            <a:r>
              <a:t>Ảnh hưởng &amp; Giải pháp: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  <a:latin typeface="Times New Roman"/>
              </a:defRPr>
            </a:pPr>
            <a:r>
              <a:t>⚠ Vấn đề trên Edge: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CPU yếu trên Edge làm bước NMS (Post-process) bị kéo dài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Mặc dù YOLOv8n nhẹ nhưng vẫn cần cơ chế đa luồng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RAM hạn chế → buffer queue phải nhỏ hơn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4ECDC4"/>
                </a:solidFill>
                <a:latin typeface="Times New Roman"/>
              </a:defRPr>
            </a:pPr>
            <a:r>
              <a:t>✅ Giải pháp: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• Dùng TensorRT + FP16/INT8 quantization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• Hậu xử lý vectorized NumPy cực kì hữu ích trên CPU yếu</a:t>
            </a:r>
          </a:p>
          <a:p>
            <a:pPr>
              <a:spcBef>
                <a:spcPts val="400"/>
              </a:spcBef>
              <a:defRPr sz="1600" b="0">
                <a:solidFill>
                  <a:srgbClr val="4ECDC4"/>
                </a:solidFill>
                <a:latin typeface="Times New Roman"/>
              </a:defRPr>
            </a:pPr>
            <a:r>
              <a:t>  • GStreamer Multi-thread CỰC KỲ QUAN TRỌNG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 để giữ giao diện hiển thị mượt mà không bị block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Times New Roman"/>
              </a:defRPr>
            </a:pPr>
            <a: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2000" b="1">
                <a:solidFill>
                  <a:srgbClr val="4ECDC4"/>
                </a:solidFill>
                <a:latin typeface="Times New Roman"/>
              </a:defRPr>
            </a:pPr>
            <a:r>
              <a:t>1. Cả 3 phương pháp đều đạt tốc độ Real-time của Video nhờ tối ưu hóa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Thời gian inference của YOLOv8n chỉ ~11.6ms giúp giải phóng tài nguyên GPU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2. GStreamer Multi-Thread là phương pháp ổn định nhất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Giữ tốc độ hiển thị đều đặn 25.0 FPS, hầu như không drop frame (6 frame)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3. OpenCV thuần bị sụt giảm tốc độ hiển thị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Do cơ chế điều phối thời gian waitKey của Windows không chính xác, kéo Display FPS xuống ~21.9 FPS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endParaRPr/>
          </a:p>
          <a:p>
            <a:pPr>
              <a:spcBef>
                <a:spcPts val="400"/>
              </a:spcBef>
              <a:defRPr sz="2000" b="1">
                <a:solidFill>
                  <a:srgbClr val="FF6B6B"/>
                </a:solidFill>
                <a:latin typeface="Times New Roman"/>
              </a:defRPr>
            </a:pPr>
            <a:r>
              <a:t>4. Tối ưu hóa NumPy ở khâu Post-process giúp giảm tải tối đa cho CPU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Times New Roman"/>
              </a:defRPr>
            </a:pPr>
            <a:r>
              <a:t>   • Giảm thời gian hậu xử lý xuống chỉ 0.22ms (trước đây là 10-15ms)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1188</Words>
  <Application>Microsoft Office PowerPoint</Application>
  <PresentationFormat>Widescreen</PresentationFormat>
  <Paragraphs>177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Minh Phucc</cp:lastModifiedBy>
  <cp:revision>2</cp:revision>
  <dcterms:created xsi:type="dcterms:W3CDTF">2013-01-27T09:14:16Z</dcterms:created>
  <dcterms:modified xsi:type="dcterms:W3CDTF">2026-06-02T12:06:43Z</dcterms:modified>
  <cp:category/>
</cp:coreProperties>
</file>